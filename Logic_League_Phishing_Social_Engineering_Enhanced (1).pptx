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272784"/>
            <a:ext cx="11384280" cy="0"/>
          </a:xfrm>
          <a:prstGeom prst="line">
            <a:avLst/>
          </a:prstGeom>
          <a:noFill/>
          <a:ln w="12700">
            <a:solidFill>
              <a:srgbClr val="263A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38251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LEAGUE HACKATHON  •  CYBERSECURITY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642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642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LEAGUE HACKATHON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1325880"/>
            <a:ext cx="8778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SOCIAL ENGINEERING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49808" y="285292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Cybersecurity: Understand the manipulation. Detect the signal. Break the attack chain.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49808" y="3840480"/>
            <a:ext cx="1417320" cy="310896"/>
          </a:xfrm>
          <a:prstGeom prst="roundRect">
            <a:avLst>
              <a:gd name="adj" fmla="val 52941"/>
            </a:avLst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3849624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PHISHGUARD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04288" y="3840480"/>
            <a:ext cx="2240280" cy="310896"/>
          </a:xfrm>
          <a:prstGeom prst="roundRect">
            <a:avLst>
              <a:gd name="adj" fmla="val 52941"/>
            </a:avLst>
          </a:prstGeom>
          <a:solidFill>
            <a:srgbClr val="FFC34D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40864" y="3849624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HUMAN-FIRST DEFENSE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9808" y="440740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Enhanced hackathon pitch deck • examples • architecture • demo • response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921240" y="1325880"/>
            <a:ext cx="1463040" cy="1463040"/>
          </a:xfrm>
          <a:prstGeom prst="arc">
            <a:avLst/>
          </a:prstGeom>
          <a:solidFill>
            <a:srgbClr val="070C16">
              <a:alpha val="0"/>
            </a:srgbClr>
          </a:solidFill>
          <a:ln w="50800">
            <a:solidFill>
              <a:srgbClr val="25D6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55480" y="2377440"/>
            <a:ext cx="1965960" cy="1965960"/>
          </a:xfrm>
          <a:prstGeom prst="hexagon">
            <a:avLst/>
          </a:prstGeom>
          <a:solidFill>
            <a:srgbClr val="15233A"/>
          </a:solidFill>
          <a:ln w="25400">
            <a:solidFill>
              <a:srgbClr val="25D6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94392" y="2798064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9555480" y="45262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 THE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ATTACK CHAIN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594360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examples are simulated; no real credentials or live malicious links are used.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642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• WHY THIS MATTERS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human layer is an attack surface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phishing blends technical tricks with psychological pressure.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64008" cy="1600200"/>
          </a:xfrm>
          <a:prstGeom prst="rect">
            <a:avLst/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68249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ATTACKER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0392" y="2057400"/>
            <a:ext cx="31272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Builds trust → creates pressure → triggers a risky action.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554480"/>
            <a:ext cx="64008" cy="1600200"/>
          </a:xfrm>
          <a:prstGeom prst="rect">
            <a:avLst/>
          </a:prstGeom>
          <a:solidFill>
            <a:srgbClr val="FFC34D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68249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VICTIM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53712" y="2057400"/>
            <a:ext cx="31272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be competent, busy, distracted, or working in a familiar workflow.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0" y="155448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554480"/>
            <a:ext cx="64008" cy="1600200"/>
          </a:xfrm>
          <a:prstGeom prst="rect">
            <a:avLst/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7032" y="168249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ORGANIZATION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57032" y="2057400"/>
            <a:ext cx="31272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Absorbs the downstream cost: account takeover, fraud, malware, data loss.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8368" y="352958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“human element” needs measurement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13232" y="4050792"/>
            <a:ext cx="100584" cy="100584"/>
          </a:xfrm>
          <a:prstGeom prst="ellipse">
            <a:avLst/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977640"/>
            <a:ext cx="6382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created the Phish Scale to rate how difficult a phishing email is for humans to detect.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713232" y="4573016"/>
            <a:ext cx="100584" cy="100584"/>
          </a:xfrm>
          <a:prstGeom prst="ellipse">
            <a:avLst/>
          </a:prstGeom>
          <a:solidFill>
            <a:srgbClr val="FFC34D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499864"/>
            <a:ext cx="6382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click rate alone can be misleading because different phishing exercises have different difficulty.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713232" y="5095240"/>
            <a:ext cx="100584" cy="100584"/>
          </a:xfrm>
          <a:prstGeom prst="ellipse">
            <a:avLst/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022088"/>
            <a:ext cx="6382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CISA guidance emphasizes phishing-resistant MFA and stronger identity controls to reduce credential theft risk.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7818120" y="361188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15233A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37947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5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$55B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046720" y="43251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 exposed losses reported by FBI/IC3 for Oct 2013–Dec 2023*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594360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NIST Phish Scale (TN 2276); CISA Phishing Guidance; FBI/IC3 BEC PSA. *Historical reporting period, not a current-year figure.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642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• FOUNDATION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vs. social engineering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“message” vs. “manipulation method.”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481328"/>
            <a:ext cx="5349240" cy="3840480"/>
          </a:xfrm>
          <a:prstGeom prst="roundRect">
            <a:avLst>
              <a:gd name="adj" fmla="val 2857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81328"/>
            <a:ext cx="64008" cy="3840480"/>
          </a:xfrm>
          <a:prstGeom prst="rect">
            <a:avLst/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0934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1984248"/>
            <a:ext cx="5001768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Deceptive communication designed to make a person click, open, log in, pay, download, or disclose information.</a:t>
            </a:r>
            <a:endParaRPr lang="en-US" sz="1420" dirty="0"/>
          </a:p>
          <a:p>
            <a:pPr algn="l" indent="0" marL="0">
              <a:buNone/>
            </a:pP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channels: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Email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SMS / messaging apps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QR codes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Fake login pages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6199632" y="1481328"/>
            <a:ext cx="5349240" cy="3840480"/>
          </a:xfrm>
          <a:prstGeom prst="roundRect">
            <a:avLst>
              <a:gd name="adj" fmla="val 2857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81328"/>
            <a:ext cx="64008" cy="3840480"/>
          </a:xfrm>
          <a:prstGeom prst="rect">
            <a:avLst/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160934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ENGINEERING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9944" y="1984248"/>
            <a:ext cx="5001768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broader set of techniques that manipulate people using trust, authority, fear, urgency, curiosity, familiarity, or reciprocity.</a:t>
            </a:r>
            <a:endParaRPr lang="en-US" sz="1420" dirty="0"/>
          </a:p>
          <a:p>
            <a:pPr algn="l" indent="0" marL="0">
              <a:buNone/>
            </a:pP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Vishing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Impersonation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BEC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Fake support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4425696" y="5468112"/>
            <a:ext cx="1874520" cy="310896"/>
          </a:xfrm>
          <a:prstGeom prst="roundRect">
            <a:avLst>
              <a:gd name="adj" fmla="val 52941"/>
            </a:avLst>
          </a:prstGeom>
          <a:solidFill>
            <a:srgbClr val="FFC34D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2272" y="5477256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ENGINEERING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90288" y="5852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5852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one common form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642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• ATTACKER PLAYBOOK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social-engineering attack is constructed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rarely “make a bad link.” The goal is “make a good person take a bad action.”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76072" y="1600200"/>
            <a:ext cx="1965960" cy="2971800"/>
          </a:xfrm>
          <a:prstGeom prst="roundRect">
            <a:avLst>
              <a:gd name="adj" fmla="val 5581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764792"/>
            <a:ext cx="384048" cy="310896"/>
          </a:xfrm>
          <a:prstGeom prst="roundRect">
            <a:avLst>
              <a:gd name="adj" fmla="val 52941"/>
            </a:avLst>
          </a:prstGeom>
          <a:solidFill>
            <a:srgbClr val="6B9DFF"/>
          </a:solidFill>
          <a:ln w="12700">
            <a:solidFill>
              <a:srgbClr val="6B9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77393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13232" y="224942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9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2788920"/>
            <a:ext cx="16642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role, vendor, manager, event, or routine.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2560320" y="2962656"/>
            <a:ext cx="274320" cy="0"/>
          </a:xfrm>
          <a:prstGeom prst="line">
            <a:avLst/>
          </a:prstGeom>
          <a:noFill/>
          <a:ln w="25400">
            <a:solidFill>
              <a:srgbClr val="263A5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80360" y="1600200"/>
            <a:ext cx="1965960" cy="2971800"/>
          </a:xfrm>
          <a:prstGeom prst="roundRect">
            <a:avLst>
              <a:gd name="adj" fmla="val 5581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1764792"/>
            <a:ext cx="384048" cy="310896"/>
          </a:xfrm>
          <a:prstGeom prst="roundRect">
            <a:avLst>
              <a:gd name="adj" fmla="val 52941"/>
            </a:avLst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54096" y="177393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17520" y="224942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PRETEXT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17520" y="2788920"/>
            <a:ext cx="16642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believable reason for contact.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4864608" y="2962656"/>
            <a:ext cx="274320" cy="0"/>
          </a:xfrm>
          <a:prstGeom prst="line">
            <a:avLst/>
          </a:prstGeom>
          <a:noFill/>
          <a:ln w="25400">
            <a:solidFill>
              <a:srgbClr val="263A5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84648" y="1600200"/>
            <a:ext cx="1965960" cy="2971800"/>
          </a:xfrm>
          <a:prstGeom prst="roundRect">
            <a:avLst>
              <a:gd name="adj" fmla="val 5581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21808" y="1764792"/>
            <a:ext cx="384048" cy="310896"/>
          </a:xfrm>
          <a:prstGeom prst="roundRect">
            <a:avLst>
              <a:gd name="adj" fmla="val 52941"/>
            </a:avLst>
          </a:prstGeom>
          <a:solidFill>
            <a:srgbClr val="FFC34D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58384" y="177393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21808" y="224942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C3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PRESSURE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21808" y="2788920"/>
            <a:ext cx="16642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urgency, fear, secrecy, or reward.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168896" y="2962656"/>
            <a:ext cx="274320" cy="0"/>
          </a:xfrm>
          <a:prstGeom prst="line">
            <a:avLst/>
          </a:prstGeom>
          <a:noFill/>
          <a:ln w="25400">
            <a:solidFill>
              <a:srgbClr val="263A5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88936" y="1600200"/>
            <a:ext cx="1965960" cy="2971800"/>
          </a:xfrm>
          <a:prstGeom prst="roundRect">
            <a:avLst>
              <a:gd name="adj" fmla="val 5581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26096" y="1764792"/>
            <a:ext cx="384048" cy="310896"/>
          </a:xfrm>
          <a:prstGeom prst="roundRect">
            <a:avLst>
              <a:gd name="adj" fmla="val 52941"/>
            </a:avLst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62672" y="177393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626096" y="224942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5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26096" y="2788920"/>
            <a:ext cx="16642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for click / code / payment / file.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9473184" y="2962656"/>
            <a:ext cx="274320" cy="0"/>
          </a:xfrm>
          <a:prstGeom prst="line">
            <a:avLst/>
          </a:prstGeom>
          <a:noFill/>
          <a:ln w="25400">
            <a:solidFill>
              <a:srgbClr val="263A55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793224" y="1600200"/>
            <a:ext cx="1965960" cy="2971800"/>
          </a:xfrm>
          <a:prstGeom prst="roundRect">
            <a:avLst>
              <a:gd name="adj" fmla="val 5581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30384" y="1764792"/>
            <a:ext cx="384048" cy="310896"/>
          </a:xfrm>
          <a:prstGeom prst="roundRect">
            <a:avLst>
              <a:gd name="adj" fmla="val 52941"/>
            </a:avLst>
          </a:prstGeom>
          <a:solidFill>
            <a:srgbClr val="55DC8B"/>
          </a:solidFill>
          <a:ln w="12700">
            <a:solidFill>
              <a:srgbClr val="55DC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66960" y="177393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930384" y="224942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5DC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 OUT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930384" y="2788920"/>
            <a:ext cx="16642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access, money, data, or trust.</a:t>
            </a:r>
            <a:endParaRPr lang="en-US" sz="1220" dirty="0"/>
          </a:p>
        </p:txBody>
      </p:sp>
      <p:sp>
        <p:nvSpPr>
          <p:cNvPr id="34" name="Shape 32"/>
          <p:cNvSpPr/>
          <p:nvPr/>
        </p:nvSpPr>
        <p:spPr>
          <a:xfrm>
            <a:off x="1143000" y="4937760"/>
            <a:ext cx="9921240" cy="804672"/>
          </a:xfrm>
          <a:prstGeom prst="roundRect">
            <a:avLst>
              <a:gd name="adj" fmla="val 13636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43000" y="4937760"/>
            <a:ext cx="64008" cy="804672"/>
          </a:xfrm>
          <a:prstGeom prst="rect">
            <a:avLst/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53312" y="506577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DEFENDER PRINCIPLE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353312" y="5440680"/>
            <a:ext cx="9573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 any link in the chain. One interruption can prevent the final payoff.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642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• ATTACK TYPES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common forms to recognize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 changes; psychology stays remarkably consistent.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429000" cy="1719072"/>
          </a:xfrm>
          <a:prstGeom prst="roundRect">
            <a:avLst>
              <a:gd name="adj" fmla="val 6383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64008" cy="1719072"/>
          </a:xfrm>
          <a:prstGeom prst="rect">
            <a:avLst/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54533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PHISHING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50392" y="1920240"/>
            <a:ext cx="308152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Mass campaign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Fake invoice / login / alert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4425696" y="1417320"/>
            <a:ext cx="3429000" cy="1719072"/>
          </a:xfrm>
          <a:prstGeom prst="roundRect">
            <a:avLst>
              <a:gd name="adj" fmla="val 6383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25696" y="1417320"/>
            <a:ext cx="64008" cy="1719072"/>
          </a:xfrm>
          <a:prstGeom prst="rect">
            <a:avLst/>
          </a:prstGeom>
          <a:solidFill>
            <a:srgbClr val="FFC34D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54533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SPEAR PHISHING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36008" y="1920240"/>
            <a:ext cx="308152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Targeted person/team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personal or work context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8211312" y="1417320"/>
            <a:ext cx="3429000" cy="1719072"/>
          </a:xfrm>
          <a:prstGeom prst="roundRect">
            <a:avLst>
              <a:gd name="adj" fmla="val 6383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11312" y="1417320"/>
            <a:ext cx="64008" cy="1719072"/>
          </a:xfrm>
          <a:prstGeom prst="rect">
            <a:avLst/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21624" y="154533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SMISHING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21624" y="1920240"/>
            <a:ext cx="308152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SMS / chat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/ bank / account alert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640080" y="3520440"/>
            <a:ext cx="3429000" cy="1719072"/>
          </a:xfrm>
          <a:prstGeom prst="roundRect">
            <a:avLst>
              <a:gd name="adj" fmla="val 6383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520440"/>
            <a:ext cx="64008" cy="1719072"/>
          </a:xfrm>
          <a:prstGeom prst="rect">
            <a:avLst/>
          </a:prstGeom>
          <a:solidFill>
            <a:srgbClr val="6B9DFF"/>
          </a:solidFill>
          <a:ln w="12700">
            <a:solidFill>
              <a:srgbClr val="6B9D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3648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VISHING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50392" y="4023360"/>
            <a:ext cx="308152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Phone / voice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Fake support / verification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4425696" y="3520440"/>
            <a:ext cx="3429000" cy="1719072"/>
          </a:xfrm>
          <a:prstGeom prst="roundRect">
            <a:avLst>
              <a:gd name="adj" fmla="val 6383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25696" y="3520440"/>
            <a:ext cx="64008" cy="1719072"/>
          </a:xfrm>
          <a:prstGeom prst="rect">
            <a:avLst/>
          </a:prstGeom>
          <a:solidFill>
            <a:srgbClr val="55DC8B"/>
          </a:solidFill>
          <a:ln w="12700">
            <a:solidFill>
              <a:srgbClr val="55DC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36008" y="3648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PHISHING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636008" y="4023360"/>
            <a:ext cx="308152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code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Redirects to a credential page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8211312" y="3520440"/>
            <a:ext cx="3429000" cy="1719072"/>
          </a:xfrm>
          <a:prstGeom prst="roundRect">
            <a:avLst>
              <a:gd name="adj" fmla="val 6383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11312" y="3520440"/>
            <a:ext cx="64008" cy="1719072"/>
          </a:xfrm>
          <a:prstGeom prst="rect">
            <a:avLst/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21624" y="3648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 / IMPERSONATION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421624" y="4023360"/>
            <a:ext cx="308152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workflow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/ data / access request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642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• EXAMPLE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email — fake account verification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example: every detail is intentionally simulated.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444752"/>
            <a:ext cx="6492240" cy="4315968"/>
          </a:xfrm>
          <a:prstGeom prst="roundRect">
            <a:avLst>
              <a:gd name="adj" fmla="val 2542"/>
            </a:avLst>
          </a:prstGeom>
          <a:solidFill>
            <a:srgbClr val="F6F8FC"/>
          </a:solidFill>
          <a:ln w="12700">
            <a:solidFill>
              <a:srgbClr val="B0BA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44752"/>
            <a:ext cx="6492240" cy="475488"/>
          </a:xfrm>
          <a:prstGeom prst="roundRect">
            <a:avLst>
              <a:gd name="adj" fmla="val 23077"/>
            </a:avLst>
          </a:prstGeom>
          <a:solidFill>
            <a:srgbClr val="E3E9F0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727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4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Inbox   ›   Message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6112" y="2139696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9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From: Payroll Team &lt;payroll@micr0soft-support.example&gt;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2523744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9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Subject: URGENT — Verify your account today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3054096"/>
            <a:ext cx="5989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A4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payroll account needs verification.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A4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avoid suspension, confirm your password and one-time code using the secure portal below.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A4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PORTAL: verify-payroll.example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A4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Regards,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A4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Payroll Support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559552" y="1554480"/>
            <a:ext cx="1097280" cy="310896"/>
          </a:xfrm>
          <a:prstGeom prst="roundRect">
            <a:avLst>
              <a:gd name="adj" fmla="val 52941"/>
            </a:avLst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96128" y="156362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60920" y="1444752"/>
            <a:ext cx="4133088" cy="1874520"/>
          </a:xfrm>
          <a:prstGeom prst="roundRect">
            <a:avLst>
              <a:gd name="adj" fmla="val 5854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60920" y="1444752"/>
            <a:ext cx="64008" cy="1874520"/>
          </a:xfrm>
          <a:prstGeom prst="rect">
            <a:avLst/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71232" y="1572768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FLAGS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571232" y="1947672"/>
            <a:ext cx="378561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Look-alike sender/domain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Urgency + suspension threat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Password + OTP request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Link asks you to authenticate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60920" y="3520440"/>
            <a:ext cx="4133088" cy="2240280"/>
          </a:xfrm>
          <a:prstGeom prst="roundRect">
            <a:avLst>
              <a:gd name="adj" fmla="val 4898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60920" y="3520440"/>
            <a:ext cx="64008" cy="2240280"/>
          </a:xfrm>
          <a:prstGeom prst="rect">
            <a:avLst/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71232" y="3648456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RESPONSE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571232" y="4023360"/>
            <a:ext cx="378561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Do not click.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Open the official service yourself.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Verify the request through a known channel.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Report the message.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If you entered credentials, start recovery immediately.</a:t>
            </a:r>
            <a:endParaRPr lang="en-US" sz="12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642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• EXAMPLE 1A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 anatomy — the link is part of the attack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 users to inspect the destination, not the button label.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5727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https://login.company-support.example/verify?session=3892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2304288"/>
            <a:ext cx="585216" cy="429768"/>
          </a:xfrm>
          <a:prstGeom prst="roundRect">
            <a:avLst>
              <a:gd name="adj" fmla="val 25532"/>
            </a:avLst>
          </a:prstGeom>
          <a:solidFill>
            <a:srgbClr val="15233A"/>
          </a:solidFill>
          <a:ln w="12700">
            <a:solidFill>
              <a:srgbClr val="A9B8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6829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B8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54480" y="2304288"/>
            <a:ext cx="658368" cy="429768"/>
          </a:xfrm>
          <a:prstGeom prst="roundRect">
            <a:avLst>
              <a:gd name="adj" fmla="val 25532"/>
            </a:avLst>
          </a:prstGeom>
          <a:solidFill>
            <a:srgbClr val="15233A"/>
          </a:solidFill>
          <a:ln w="12700">
            <a:solidFill>
              <a:srgbClr val="6B9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23682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9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04288" y="2304288"/>
            <a:ext cx="1965960" cy="429768"/>
          </a:xfrm>
          <a:prstGeom prst="roundRect">
            <a:avLst>
              <a:gd name="adj" fmla="val 25532"/>
            </a:avLst>
          </a:prstGeom>
          <a:solidFill>
            <a:srgbClr val="15233A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23682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B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company-support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70832" y="2304288"/>
            <a:ext cx="1097280" cy="429768"/>
          </a:xfrm>
          <a:prstGeom prst="roundRect">
            <a:avLst>
              <a:gd name="adj" fmla="val 25532"/>
            </a:avLst>
          </a:prstGeom>
          <a:solidFill>
            <a:srgbClr val="15233A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23682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.example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2304288"/>
            <a:ext cx="960120" cy="429768"/>
          </a:xfrm>
          <a:prstGeom prst="roundRect">
            <a:avLst>
              <a:gd name="adj" fmla="val 25532"/>
            </a:avLst>
          </a:prstGeom>
          <a:solidFill>
            <a:srgbClr val="15233A"/>
          </a:solidFill>
          <a:ln w="12700">
            <a:solidFill>
              <a:srgbClr val="55DC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236829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/verify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29400" y="2304288"/>
            <a:ext cx="1920240" cy="429768"/>
          </a:xfrm>
          <a:prstGeom prst="roundRect">
            <a:avLst>
              <a:gd name="adj" fmla="val 25532"/>
            </a:avLst>
          </a:prstGeom>
          <a:solidFill>
            <a:srgbClr val="15233A"/>
          </a:solidFill>
          <a:ln w="12700">
            <a:solidFill>
              <a:srgbClr val="A9B8C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368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B8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?session=3892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3200400"/>
            <a:ext cx="3337560" cy="1828800"/>
          </a:xfrm>
          <a:prstGeom prst="roundRect">
            <a:avLst>
              <a:gd name="adj" fmla="val 6000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200400"/>
            <a:ext cx="64008" cy="1828800"/>
          </a:xfrm>
          <a:prstGeom prst="rect">
            <a:avLst/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332841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THE DOMAIN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87552" y="3703320"/>
            <a:ext cx="299008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at the right side of the host name. Ask: “Is this actually the organization’s official domain?”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4407408" y="3200400"/>
            <a:ext cx="3337560" cy="1828800"/>
          </a:xfrm>
          <a:prstGeom prst="roundRect">
            <a:avLst>
              <a:gd name="adj" fmla="val 6000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07408" y="3200400"/>
            <a:ext cx="64008" cy="1828800"/>
          </a:xfrm>
          <a:prstGeom prst="rect">
            <a:avLst/>
          </a:prstGeom>
          <a:solidFill>
            <a:srgbClr val="FFC34D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332841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THE CONTEXT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17720" y="3703320"/>
            <a:ext cx="299008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the user expect this login? Is the action being requested normal?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8037576" y="3200400"/>
            <a:ext cx="3337560" cy="1828800"/>
          </a:xfrm>
          <a:prstGeom prst="roundRect">
            <a:avLst>
              <a:gd name="adj" fmla="val 6000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37576" y="3200400"/>
            <a:ext cx="64008" cy="1828800"/>
          </a:xfrm>
          <a:prstGeom prst="rect">
            <a:avLst/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47888" y="332841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THE ACTION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47888" y="3703320"/>
            <a:ext cx="299008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Password? MFA code? Payment? Download? Higher-risk actions demand stronger verification.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594360" y="594360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Demo-safe approach: use placeholder domains such as .example rather than real phishing infrastructure.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642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• EXAMPLE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Smishing — delivery / parcel scam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 messages can hide a complete social-engineering chain.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490472"/>
            <a:ext cx="5212080" cy="4160520"/>
          </a:xfrm>
          <a:prstGeom prst="roundRect">
            <a:avLst>
              <a:gd name="adj" fmla="val 2637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490472"/>
            <a:ext cx="64008" cy="4160520"/>
          </a:xfrm>
          <a:prstGeom prst="rect">
            <a:avLst/>
          </a:prstGeom>
          <a:solidFill>
            <a:srgbClr val="FFC34D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61848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SIMULATED SMS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23544" y="1993392"/>
            <a:ext cx="4864608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“Your parcel is on hold because the address is incomplete.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details within 30 minutes to avoid return: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parcel-update.example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Delivery Support”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199632" y="1490472"/>
            <a:ext cx="5166360" cy="1901952"/>
          </a:xfrm>
          <a:prstGeom prst="roundRect">
            <a:avLst>
              <a:gd name="adj" fmla="val 5769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90472"/>
            <a:ext cx="64008" cy="1901952"/>
          </a:xfrm>
          <a:prstGeom prst="rect">
            <a:avLst/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16184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FEELS REAL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9944" y="1993392"/>
            <a:ext cx="4818888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Delivery context is common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Minimal text lowers scrutiny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Phone screen hides some URL detail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Countdown creates pressure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99632" y="3611880"/>
            <a:ext cx="5166360" cy="2039112"/>
          </a:xfrm>
          <a:prstGeom prst="roundRect">
            <a:avLst>
              <a:gd name="adj" fmla="val 5381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99632" y="3611880"/>
            <a:ext cx="64008" cy="2039112"/>
          </a:xfrm>
          <a:prstGeom prst="rect">
            <a:avLst/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9944" y="373989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9944" y="4114800"/>
            <a:ext cx="481888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courier’s official app or type its known website manually. Never let the SMS prove its own authenticity.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642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• EXAMPLE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Vishing — fake IT support call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 creates a stronger “real person” feeling; attackers exploit that trust.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6656" y="1435608"/>
            <a:ext cx="5230368" cy="4315968"/>
          </a:xfrm>
          <a:prstGeom prst="roundRect">
            <a:avLst>
              <a:gd name="adj" fmla="val 2542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435608"/>
            <a:ext cx="64008" cy="4315968"/>
          </a:xfrm>
          <a:prstGeom prst="rect">
            <a:avLst/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63624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SIMULATED CALL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86968" y="1938528"/>
            <a:ext cx="488289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CALLER</a:t>
            </a:r>
            <a:endParaRPr lang="en-US" sz="1330" dirty="0"/>
          </a:p>
          <a:p>
            <a:pPr algn="l" indent="0" marL="0">
              <a:buNone/>
            </a:pPr>
            <a:r>
              <a:rPr lang="en-US" sz="133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“Hi, I’m from IT security. We detected a suspicious login. I need the code that just arrived on your phone to secure the account.”</a:t>
            </a:r>
            <a:endParaRPr lang="en-US" sz="1330" dirty="0"/>
          </a:p>
          <a:p>
            <a:pPr algn="l" indent="0" marL="0">
              <a:buNone/>
            </a:pPr>
            <a:endParaRPr lang="en-US" sz="1330" dirty="0"/>
          </a:p>
          <a:p>
            <a:pPr algn="l" indent="0" marL="0">
              <a:buNone/>
            </a:pPr>
            <a:r>
              <a:rPr lang="en-US" sz="133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330" dirty="0"/>
          </a:p>
          <a:p>
            <a:pPr algn="l" indent="0" marL="0">
              <a:buNone/>
            </a:pPr>
            <a:r>
              <a:rPr lang="en-US" sz="133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“Which code?”</a:t>
            </a:r>
            <a:endParaRPr lang="en-US" sz="1330" dirty="0"/>
          </a:p>
          <a:p>
            <a:pPr algn="l" indent="0" marL="0">
              <a:buNone/>
            </a:pPr>
            <a:endParaRPr lang="en-US" sz="1330" dirty="0"/>
          </a:p>
          <a:p>
            <a:pPr algn="l" indent="0" marL="0">
              <a:buNone/>
            </a:pPr>
            <a:r>
              <a:rPr lang="en-US" sz="133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CALLER</a:t>
            </a:r>
            <a:endParaRPr lang="en-US" sz="1330" dirty="0"/>
          </a:p>
          <a:p>
            <a:pPr algn="l" indent="0" marL="0">
              <a:buNone/>
            </a:pPr>
            <a:r>
              <a:rPr lang="en-US" sz="133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six-digit verification code. It expires in 60 seconds.”</a:t>
            </a:r>
            <a:endParaRPr lang="en-US" sz="1330" dirty="0"/>
          </a:p>
        </p:txBody>
      </p:sp>
      <p:sp>
        <p:nvSpPr>
          <p:cNvPr id="9" name="Shape 7"/>
          <p:cNvSpPr/>
          <p:nvPr/>
        </p:nvSpPr>
        <p:spPr>
          <a:xfrm>
            <a:off x="6217920" y="1435608"/>
            <a:ext cx="5166360" cy="1920240"/>
          </a:xfrm>
          <a:prstGeom prst="roundRect">
            <a:avLst>
              <a:gd name="adj" fmla="val 5714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35608"/>
            <a:ext cx="64008" cy="1920240"/>
          </a:xfrm>
          <a:prstGeom prst="rect">
            <a:avLst/>
          </a:prstGeom>
          <a:solidFill>
            <a:srgbClr val="FFC34D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156362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RED FLAG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28232" y="1938528"/>
            <a:ext cx="481888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caller is trying to make the victim disclose a live authentication code.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584448"/>
            <a:ext cx="5166360" cy="2167128"/>
          </a:xfrm>
          <a:prstGeom prst="roundRect">
            <a:avLst>
              <a:gd name="adj" fmla="val 5063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3584448"/>
            <a:ext cx="64008" cy="2167128"/>
          </a:xfrm>
          <a:prstGeom prst="rect">
            <a:avLst/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371246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RESPONSE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28232" y="4087368"/>
            <a:ext cx="4818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Hang up. Call IT using a known internal number. Verify the incident independently. Never read out OTP/MFA codes to an unexpected caller.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642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• EXAMPLE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Email Compromise (BEC)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target can be a workflow — not just a password.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6656" y="1444752"/>
            <a:ext cx="5230368" cy="4325112"/>
          </a:xfrm>
          <a:prstGeom prst="roundRect">
            <a:avLst>
              <a:gd name="adj" fmla="val 2537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444752"/>
            <a:ext cx="64008" cy="4325112"/>
          </a:xfrm>
          <a:prstGeom prst="rect">
            <a:avLst/>
          </a:prstGeom>
          <a:solidFill>
            <a:srgbClr val="FFC34D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72768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SIMULATED FINANCE REQUEST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6968" y="1947672"/>
            <a:ext cx="4882896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“Hi Finance,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I’m travelling and need today’s vendor payment routed to the new bank details attached. Please process before 4 PM.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CEO”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444752"/>
            <a:ext cx="5166360" cy="4325112"/>
          </a:xfrm>
          <a:prstGeom prst="roundRect">
            <a:avLst>
              <a:gd name="adj" fmla="val 2537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44752"/>
            <a:ext cx="64008" cy="4325112"/>
          </a:xfrm>
          <a:prstGeom prst="rect">
            <a:avLst/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15727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POINTS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28232" y="1947672"/>
            <a:ext cx="4818888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Callback using a known number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Two-person approval for bank-detail changes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Known vendor contacts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No exceptions for “urgent” requests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Flag look-alike domains</a:t>
            </a:r>
            <a:endParaRPr lang="en-US" sz="1340" dirty="0"/>
          </a:p>
          <a:p>
            <a:pPr algn="l" indent="0" marL="0">
              <a:buNone/>
            </a:pPr>
            <a:r>
              <a:rPr lang="en-US" sz="134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Separate payment authority from request authority</a:t>
            </a:r>
            <a:endParaRPr lang="en-US" sz="1340" dirty="0"/>
          </a:p>
        </p:txBody>
      </p:sp>
      <p:sp>
        <p:nvSpPr>
          <p:cNvPr id="13" name="Text 11"/>
          <p:cNvSpPr/>
          <p:nvPr/>
        </p:nvSpPr>
        <p:spPr>
          <a:xfrm>
            <a:off x="594360" y="594360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FBI/IC3 describes BEC as a highly damaging fraud pattern involving trusted-looking requests, including payment changes.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642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• EXAMPLE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phishing — “scan first, think later”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QR code can conceal the destination until the user scans it.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86384" y="1536192"/>
            <a:ext cx="2971800" cy="2971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536192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2795" y="1536192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9205" y="1536192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5616" y="1536192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2026" y="1536192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68437" y="1536192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24847" y="1536192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079" y="1536192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06900" y="1536192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63310" y="1536192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19721" y="1536192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6131" y="1536192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32542" y="1536192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88952" y="1536192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45363" y="1536192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01773" y="1536192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" y="1692603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24847" y="1692603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37668" y="1692603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079" y="1692603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50489" y="1692603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63310" y="1692603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01773" y="1692603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" y="1849013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99205" y="1849013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55616" y="1849013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12026" y="1849013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24847" y="1849013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37668" y="1849013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50489" y="1849013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63310" y="1849013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76131" y="1849013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32542" y="1849013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88952" y="1849013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01773" y="1849013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6384" y="2005424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99205" y="2005424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55616" y="2005424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12026" y="2005424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724847" y="2005424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037668" y="2005424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06900" y="2005424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63310" y="2005424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76131" y="2005424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132542" y="2005424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88952" y="2005424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01773" y="2005424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86384" y="2161834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99205" y="2161834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255616" y="2161834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412026" y="2161834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24847" y="2161834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037668" y="2161834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194079" y="2161834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50489" y="2161834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663310" y="2161834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976131" y="2161834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132542" y="2161834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88952" y="2161834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601773" y="2161834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86384" y="2318245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724847" y="2318245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037668" y="2318245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50489" y="2318245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663310" y="2318245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601773" y="2318245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86384" y="2474655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42795" y="2474655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99205" y="2474655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255616" y="2474655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412026" y="2474655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568437" y="2474655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724847" y="2474655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037668" y="2474655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350489" y="2474655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663310" y="2474655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19721" y="2474655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976131" y="2474655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132542" y="2474655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288952" y="2474655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445363" y="2474655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601773" y="2474655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037668" y="2631066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194079" y="2631066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506900" y="2631066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86384" y="2787476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42795" y="2787476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412026" y="2787476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568437" y="2787476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724847" y="2787476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881258" y="2787476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037668" y="2787476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350489" y="2787476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663310" y="2787476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819721" y="2787476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132542" y="2787476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288952" y="2787476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445363" y="2787476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601773" y="2787476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99205" y="2943887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255616" y="2943887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568437" y="2943887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037668" y="2943887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194079" y="2943887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350489" y="2943887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506900" y="2943887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976131" y="2943887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288952" y="2943887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86384" y="3100297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42795" y="3100297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099205" y="3100297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412026" y="3100297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568437" y="3100297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724847" y="3100297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881258" y="3100297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506900" y="3100297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663310" y="3100297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2819721" y="3100297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2976131" y="3100297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3288952" y="3100297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445363" y="3100297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255616" y="3256708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881258" y="3256708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194079" y="3256708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350489" y="3256708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506900" y="3256708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132542" y="3256708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3445363" y="3256708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86384" y="3413118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942795" y="3413118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099205" y="3413118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255616" y="3413118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412026" y="3413118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568437" y="3413118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724847" y="3413118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037668" y="3413118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506900" y="3413118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663310" y="3413118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976131" y="3413118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132542" y="3413118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288952" y="3413118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601773" y="3413118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86384" y="3569529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724847" y="3569529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037668" y="3569529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194079" y="3569529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350489" y="3569529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2506900" y="3569529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2663310" y="3569529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132542" y="3569529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601773" y="3569529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86384" y="3725939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099205" y="3725939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255616" y="3725939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412026" y="3725939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724847" y="3725939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037668" y="3725939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506900" y="3725939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663310" y="3725939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2976131" y="3725939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3288952" y="3725939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3445363" y="3725939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3601773" y="3725939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86384" y="3882350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099205" y="3882350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255616" y="3882350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412026" y="3882350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724847" y="3882350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2037668" y="3882350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2194079" y="3882350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2350489" y="3882350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663310" y="3882350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2819721" y="3882350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976131" y="3882350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3601773" y="3882350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786384" y="4038760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099205" y="4038760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255616" y="4038760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412026" y="4038760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724847" y="4038760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2037668" y="4038760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2663310" y="4038760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2976131" y="4038760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3132542" y="4038760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3445363" y="4038760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86384" y="4195171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1724847" y="4195171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2037668" y="4195171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2194079" y="4195171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2506900" y="4195171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2976131" y="4195171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3445363" y="4195171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3601773" y="4195171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86384" y="4351581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942795" y="4351581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1099205" y="4351581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1255616" y="4351581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412026" y="4351581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568437" y="4351581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724847" y="4351581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2350489" y="4351581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2506900" y="4351581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2663310" y="4351581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2819721" y="4351581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2976131" y="4351581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3132542" y="4351581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3288952" y="4351581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3445363" y="4351581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3601773" y="4351581"/>
            <a:ext cx="159154" cy="159154"/>
          </a:xfrm>
          <a:prstGeom prst="rect">
            <a:avLst/>
          </a:prstGeom>
          <a:solidFill>
            <a:srgbClr val="070C16"/>
          </a:solidFill>
          <a:ln w="12700">
            <a:solidFill>
              <a:srgbClr val="070C16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417320" y="4718304"/>
            <a:ext cx="1691640" cy="310896"/>
          </a:xfrm>
          <a:prstGeom prst="roundRect">
            <a:avLst>
              <a:gd name="adj" fmla="val 52941"/>
            </a:avLst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1453896" y="4727448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SIMULATED QR</a:t>
            </a:r>
            <a:endParaRPr lang="en-US" sz="950" dirty="0"/>
          </a:p>
        </p:txBody>
      </p:sp>
      <p:sp>
        <p:nvSpPr>
          <p:cNvPr id="217" name="Shape 215"/>
          <p:cNvSpPr/>
          <p:nvPr/>
        </p:nvSpPr>
        <p:spPr>
          <a:xfrm>
            <a:off x="4160520" y="1536192"/>
            <a:ext cx="3291840" cy="4224528"/>
          </a:xfrm>
          <a:prstGeom prst="roundRect">
            <a:avLst>
              <a:gd name="adj" fmla="val 3333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4160520" y="1536192"/>
            <a:ext cx="64008" cy="4224528"/>
          </a:xfrm>
          <a:prstGeom prst="rect">
            <a:avLst/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4370832" y="166420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</a:t>
            </a:r>
            <a:endParaRPr lang="en-US" sz="1800" dirty="0"/>
          </a:p>
        </p:txBody>
      </p:sp>
      <p:sp>
        <p:nvSpPr>
          <p:cNvPr id="220" name="Text 218"/>
          <p:cNvSpPr/>
          <p:nvPr/>
        </p:nvSpPr>
        <p:spPr>
          <a:xfrm>
            <a:off x="4370832" y="2039112"/>
            <a:ext cx="294436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poster says: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“Scan to verify your Wi-Fi / claim a refund / view the event schedule.”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code opens a login page designed to capture credentials.</a:t>
            </a:r>
            <a:endParaRPr lang="en-US" sz="1400" dirty="0"/>
          </a:p>
        </p:txBody>
      </p:sp>
      <p:sp>
        <p:nvSpPr>
          <p:cNvPr id="221" name="Shape 219"/>
          <p:cNvSpPr/>
          <p:nvPr/>
        </p:nvSpPr>
        <p:spPr>
          <a:xfrm>
            <a:off x="7744968" y="1536192"/>
            <a:ext cx="3520440" cy="4224528"/>
          </a:xfrm>
          <a:prstGeom prst="roundRect">
            <a:avLst>
              <a:gd name="adj" fmla="val 3117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744968" y="1536192"/>
            <a:ext cx="64008" cy="4224528"/>
          </a:xfrm>
          <a:prstGeom prst="rect">
            <a:avLst/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7955280" y="166420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DEFENSE</a:t>
            </a:r>
            <a:endParaRPr lang="en-US" sz="1800" dirty="0"/>
          </a:p>
        </p:txBody>
      </p:sp>
      <p:sp>
        <p:nvSpPr>
          <p:cNvPr id="224" name="Text 222"/>
          <p:cNvSpPr/>
          <p:nvPr/>
        </p:nvSpPr>
        <p:spPr>
          <a:xfrm>
            <a:off x="7955280" y="2039112"/>
            <a:ext cx="317296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7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 the destination. Check the domain. Prefer the official app. Avoid entering credentials into a site reached only because a QR code told you to.</a:t>
            </a:r>
            <a:endParaRPr lang="en-US" sz="13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642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• THREAT MATRIX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the manipulation technique to the requested action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helps a defender choose the right control.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1371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70632" y="1371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PRETEXT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15000" y="1371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ACTION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13716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1700784"/>
            <a:ext cx="10698480" cy="512064"/>
          </a:xfrm>
          <a:prstGeom prst="roundRect">
            <a:avLst>
              <a:gd name="adj" fmla="val 8929"/>
            </a:avLst>
          </a:prstGeom>
          <a:solidFill>
            <a:srgbClr val="15233A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77393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5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70632" y="17739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 / bank / IT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5715000" y="17739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code / approve request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7772400" y="177393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Out-of-band verification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58368" y="2340864"/>
            <a:ext cx="10698480" cy="512064"/>
          </a:xfrm>
          <a:prstGeom prst="roundRect">
            <a:avLst>
              <a:gd name="adj" fmla="val 8929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41401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C3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Urgency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770632" y="24140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“10 minutes left”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5715000" y="24140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/ pay now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7772400" y="241401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Cooling-off + callback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58368" y="2980944"/>
            <a:ext cx="10698480" cy="512064"/>
          </a:xfrm>
          <a:prstGeom prst="roundRect">
            <a:avLst>
              <a:gd name="adj" fmla="val 8929"/>
            </a:avLst>
          </a:prstGeom>
          <a:solidFill>
            <a:srgbClr val="15233A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305409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5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70632" y="30540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“Account will close”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5715000" y="30540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in / disclose data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7772400" y="305409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portal access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58368" y="3621024"/>
            <a:ext cx="10698480" cy="512064"/>
          </a:xfrm>
          <a:prstGeom prst="roundRect">
            <a:avLst>
              <a:gd name="adj" fmla="val 8929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369417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Familiarity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770632" y="36941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Brand/logo / known name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5715000" y="36941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link / attachment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7772400" y="369417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+ identity checks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658368" y="4261104"/>
            <a:ext cx="10698480" cy="512064"/>
          </a:xfrm>
          <a:prstGeom prst="roundRect">
            <a:avLst>
              <a:gd name="adj" fmla="val 8929"/>
            </a:avLst>
          </a:prstGeom>
          <a:solidFill>
            <a:srgbClr val="15233A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" y="433425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B9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Curiosity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770632" y="43342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“Confidential file”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5715000" y="43342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attachment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7772400" y="433425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preview / sandbox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658368" y="4901184"/>
            <a:ext cx="10698480" cy="512064"/>
          </a:xfrm>
          <a:prstGeom prst="roundRect">
            <a:avLst>
              <a:gd name="adj" fmla="val 8929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" y="497433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5DC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770632" y="49743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Prize / refund / bonus</a:t>
            </a:r>
            <a:endParaRPr lang="en-US" sz="1120" dirty="0"/>
          </a:p>
        </p:txBody>
      </p:sp>
      <p:sp>
        <p:nvSpPr>
          <p:cNvPr id="37" name="Text 35"/>
          <p:cNvSpPr/>
          <p:nvPr/>
        </p:nvSpPr>
        <p:spPr>
          <a:xfrm>
            <a:off x="5715000" y="49743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 fee / submit details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7772400" y="497433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official channel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642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• DETECTION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flags that should trigger a pause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single clue is perfect. Multiple weak signals can become a strong case.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89888"/>
            <a:ext cx="3429000" cy="886968"/>
          </a:xfrm>
          <a:prstGeom prst="roundRect">
            <a:avLst>
              <a:gd name="adj" fmla="val 12371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89888"/>
            <a:ext cx="64008" cy="886968"/>
          </a:xfrm>
          <a:prstGeom prst="rect">
            <a:avLst/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5179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 01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50392" y="1892808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Sender display name ≠ actual address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425696" y="1389888"/>
            <a:ext cx="3429000" cy="886968"/>
          </a:xfrm>
          <a:prstGeom prst="roundRect">
            <a:avLst>
              <a:gd name="adj" fmla="val 12371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25696" y="1389888"/>
            <a:ext cx="64008" cy="886968"/>
          </a:xfrm>
          <a:prstGeom prst="rect">
            <a:avLst/>
          </a:prstGeom>
          <a:solidFill>
            <a:srgbClr val="FFC34D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5179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 02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36008" y="1892808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Look-alike / misspelled / unexpected domain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8211312" y="1389888"/>
            <a:ext cx="3429000" cy="886968"/>
          </a:xfrm>
          <a:prstGeom prst="roundRect">
            <a:avLst>
              <a:gd name="adj" fmla="val 12371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11312" y="1389888"/>
            <a:ext cx="64008" cy="886968"/>
          </a:xfrm>
          <a:prstGeom prst="rect">
            <a:avLst/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21624" y="15179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 03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21624" y="1892808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Urgency or threats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40080" y="2468880"/>
            <a:ext cx="3429000" cy="886968"/>
          </a:xfrm>
          <a:prstGeom prst="roundRect">
            <a:avLst>
              <a:gd name="adj" fmla="val 12371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468880"/>
            <a:ext cx="64008" cy="886968"/>
          </a:xfrm>
          <a:prstGeom prst="rect">
            <a:avLst/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259689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 04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50392" y="297180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Password, OTP, MFA-code or payment request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4425696" y="2468880"/>
            <a:ext cx="3429000" cy="886968"/>
          </a:xfrm>
          <a:prstGeom prst="roundRect">
            <a:avLst>
              <a:gd name="adj" fmla="val 12371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25696" y="2468880"/>
            <a:ext cx="64008" cy="886968"/>
          </a:xfrm>
          <a:prstGeom prst="rect">
            <a:avLst/>
          </a:prstGeom>
          <a:solidFill>
            <a:srgbClr val="FFC34D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36008" y="259689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 05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636008" y="297180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Unexpected attachment or link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8211312" y="2468880"/>
            <a:ext cx="3429000" cy="886968"/>
          </a:xfrm>
          <a:prstGeom prst="roundRect">
            <a:avLst>
              <a:gd name="adj" fmla="val 12371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11312" y="2468880"/>
            <a:ext cx="64008" cy="886968"/>
          </a:xfrm>
          <a:prstGeom prst="rect">
            <a:avLst/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21624" y="259689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 06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421624" y="297180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process is being bypassed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640080" y="3547872"/>
            <a:ext cx="3429000" cy="886968"/>
          </a:xfrm>
          <a:prstGeom prst="roundRect">
            <a:avLst>
              <a:gd name="adj" fmla="val 12371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3547872"/>
            <a:ext cx="64008" cy="886968"/>
          </a:xfrm>
          <a:prstGeom prst="rect">
            <a:avLst/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" y="36758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 07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50392" y="405079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Secrecy: “Don’t call anyone”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4425696" y="3547872"/>
            <a:ext cx="3429000" cy="886968"/>
          </a:xfrm>
          <a:prstGeom prst="roundRect">
            <a:avLst>
              <a:gd name="adj" fmla="val 12371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25696" y="3547872"/>
            <a:ext cx="64008" cy="886968"/>
          </a:xfrm>
          <a:prstGeom prst="rect">
            <a:avLst/>
          </a:prstGeom>
          <a:solidFill>
            <a:srgbClr val="FFC34D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36008" y="36758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 08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636008" y="405079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Unusual channel for the request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8211312" y="3547872"/>
            <a:ext cx="3429000" cy="886968"/>
          </a:xfrm>
          <a:prstGeom prst="roundRect">
            <a:avLst>
              <a:gd name="adj" fmla="val 12371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11312" y="3547872"/>
            <a:ext cx="64008" cy="886968"/>
          </a:xfrm>
          <a:prstGeom prst="rect">
            <a:avLst/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21624" y="36758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 09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421624" y="405079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Destination does not match context</a:t>
            </a:r>
            <a:endParaRPr lang="en-US" sz="1120" dirty="0"/>
          </a:p>
        </p:txBody>
      </p:sp>
      <p:sp>
        <p:nvSpPr>
          <p:cNvPr id="41" name="Shape 39"/>
          <p:cNvSpPr/>
          <p:nvPr/>
        </p:nvSpPr>
        <p:spPr>
          <a:xfrm>
            <a:off x="640080" y="4626864"/>
            <a:ext cx="3429000" cy="886968"/>
          </a:xfrm>
          <a:prstGeom prst="roundRect">
            <a:avLst>
              <a:gd name="adj" fmla="val 12371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" y="4626864"/>
            <a:ext cx="64008" cy="886968"/>
          </a:xfrm>
          <a:prstGeom prst="rect">
            <a:avLst/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0392" y="47548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 10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850392" y="512978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request makes you act before you can verify it</a:t>
            </a:r>
            <a:endParaRPr lang="en-US" sz="1120" dirty="0"/>
          </a:p>
        </p:txBody>
      </p:sp>
      <p:sp>
        <p:nvSpPr>
          <p:cNvPr id="45" name="Shape 43"/>
          <p:cNvSpPr/>
          <p:nvPr/>
        </p:nvSpPr>
        <p:spPr>
          <a:xfrm>
            <a:off x="4425696" y="4626864"/>
            <a:ext cx="3429000" cy="886968"/>
          </a:xfrm>
          <a:prstGeom prst="roundRect">
            <a:avLst>
              <a:gd name="adj" fmla="val 12371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25696" y="4626864"/>
            <a:ext cx="64008" cy="886968"/>
          </a:xfrm>
          <a:prstGeom prst="rect">
            <a:avLst/>
          </a:prstGeom>
          <a:solidFill>
            <a:srgbClr val="FFC34D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36008" y="47548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 11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636008" y="512978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Unexpected change to vendor bank details</a:t>
            </a:r>
            <a:endParaRPr lang="en-US" sz="1120" dirty="0"/>
          </a:p>
        </p:txBody>
      </p:sp>
      <p:sp>
        <p:nvSpPr>
          <p:cNvPr id="49" name="Shape 47"/>
          <p:cNvSpPr/>
          <p:nvPr/>
        </p:nvSpPr>
        <p:spPr>
          <a:xfrm>
            <a:off x="8211312" y="4626864"/>
            <a:ext cx="3429000" cy="886968"/>
          </a:xfrm>
          <a:prstGeom prst="roundRect">
            <a:avLst>
              <a:gd name="adj" fmla="val 12371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11312" y="4626864"/>
            <a:ext cx="64008" cy="886968"/>
          </a:xfrm>
          <a:prstGeom prst="rect">
            <a:avLst/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21624" y="47548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 12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8421624" y="512978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style is unusually polished or tailored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642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• HUMAN FACTORS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“click rate” alone is not enough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NIST’s Phish Scale explicitly considers human detection difficulty.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10" kern="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CONCEPTUAL TRAINING SCALE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1847088"/>
            <a:ext cx="3017520" cy="1874520"/>
          </a:xfrm>
          <a:prstGeom prst="roundRect">
            <a:avLst>
              <a:gd name="adj" fmla="val 5854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029968"/>
            <a:ext cx="896112" cy="310896"/>
          </a:xfrm>
          <a:prstGeom prst="roundRect">
            <a:avLst>
              <a:gd name="adj" fmla="val 52941"/>
            </a:avLst>
          </a:prstGeom>
          <a:solidFill>
            <a:srgbClr val="55DC8B"/>
          </a:solidFill>
          <a:ln w="12700">
            <a:solidFill>
              <a:srgbClr val="55DC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" y="20391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51560" y="258775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Obvious mismatch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3072384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basic awareness and pattern recognition.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526280" y="1847088"/>
            <a:ext cx="3017520" cy="1874520"/>
          </a:xfrm>
          <a:prstGeom prst="roundRect">
            <a:avLst>
              <a:gd name="adj" fmla="val 5854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2029968"/>
            <a:ext cx="896112" cy="310896"/>
          </a:xfrm>
          <a:prstGeom prst="roundRect">
            <a:avLst>
              <a:gd name="adj" fmla="val 52941"/>
            </a:avLst>
          </a:prstGeom>
          <a:solidFill>
            <a:srgbClr val="FFC34D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5736" y="20391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09160" y="258775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Plausible context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9160" y="3072384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test of attention and verification habits.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8183880" y="1847088"/>
            <a:ext cx="3017520" cy="1874520"/>
          </a:xfrm>
          <a:prstGeom prst="roundRect">
            <a:avLst>
              <a:gd name="adj" fmla="val 5854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0" y="2029968"/>
            <a:ext cx="896112" cy="310896"/>
          </a:xfrm>
          <a:prstGeom prst="roundRect">
            <a:avLst>
              <a:gd name="adj" fmla="val 52941"/>
            </a:avLst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03336" y="20391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366760" y="258775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context + pressure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66760" y="3072384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stronger controls and context-aware training.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868680" y="4114800"/>
            <a:ext cx="10012680" cy="1005840"/>
          </a:xfrm>
          <a:prstGeom prst="roundRect">
            <a:avLst>
              <a:gd name="adj" fmla="val 10909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4114800"/>
            <a:ext cx="64008" cy="1005840"/>
          </a:xfrm>
          <a:prstGeom prst="rect">
            <a:avLst/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4242816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METRIC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78992" y="4617720"/>
            <a:ext cx="96652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Track: difficulty + user behavior + report rate + time-to-report — not just “who clicked.”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594360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NIST Phish Scale User Guide, NIST TN 2276 (2023).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642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• USER PLAYBOOK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5-second verification habit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short, repeatable workflow is easier to remember under pressure.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5488" y="1719072"/>
            <a:ext cx="1993392" cy="2359152"/>
          </a:xfrm>
          <a:prstGeom prst="roundRect">
            <a:avLst>
              <a:gd name="adj" fmla="val 5505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1920240"/>
            <a:ext cx="411480" cy="310896"/>
          </a:xfrm>
          <a:prstGeom prst="roundRect">
            <a:avLst>
              <a:gd name="adj" fmla="val 52941"/>
            </a:avLst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929384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30936" y="2542032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" y="3090672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Don’t click / reply / pay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487168" y="2880360"/>
            <a:ext cx="283464" cy="0"/>
          </a:xfrm>
          <a:prstGeom prst="line">
            <a:avLst/>
          </a:prstGeom>
          <a:noFill/>
          <a:ln w="25400">
            <a:solidFill>
              <a:srgbClr val="263A5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16352" y="1719072"/>
            <a:ext cx="1993392" cy="2359152"/>
          </a:xfrm>
          <a:prstGeom prst="roundRect">
            <a:avLst>
              <a:gd name="adj" fmla="val 5505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1920240"/>
            <a:ext cx="411480" cy="310896"/>
          </a:xfrm>
          <a:prstGeom prst="roundRect">
            <a:avLst>
              <a:gd name="adj" fmla="val 52941"/>
            </a:avLst>
          </a:prstGeom>
          <a:solidFill>
            <a:srgbClr val="FFC34D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8376" y="1929384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71800" y="2542032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C3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71800" y="3090672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Sender • URL • context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28032" y="2880360"/>
            <a:ext cx="283464" cy="0"/>
          </a:xfrm>
          <a:prstGeom prst="line">
            <a:avLst/>
          </a:prstGeom>
          <a:noFill/>
          <a:ln w="25400">
            <a:solidFill>
              <a:srgbClr val="263A5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57216" y="1719072"/>
            <a:ext cx="1993392" cy="2359152"/>
          </a:xfrm>
          <a:prstGeom prst="roundRect">
            <a:avLst>
              <a:gd name="adj" fmla="val 5505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12664" y="1920240"/>
            <a:ext cx="411480" cy="310896"/>
          </a:xfrm>
          <a:prstGeom prst="roundRect">
            <a:avLst>
              <a:gd name="adj" fmla="val 52941"/>
            </a:avLst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1929384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12664" y="2542032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12664" y="3090672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Known-good channel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168896" y="2880360"/>
            <a:ext cx="283464" cy="0"/>
          </a:xfrm>
          <a:prstGeom prst="line">
            <a:avLst/>
          </a:prstGeom>
          <a:noFill/>
          <a:ln w="25400">
            <a:solidFill>
              <a:srgbClr val="263A5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98080" y="1719072"/>
            <a:ext cx="1993392" cy="2359152"/>
          </a:xfrm>
          <a:prstGeom prst="roundRect">
            <a:avLst>
              <a:gd name="adj" fmla="val 5505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53528" y="1920240"/>
            <a:ext cx="411480" cy="310896"/>
          </a:xfrm>
          <a:prstGeom prst="roundRect">
            <a:avLst>
              <a:gd name="adj" fmla="val 52941"/>
            </a:avLst>
          </a:prstGeom>
          <a:solidFill>
            <a:srgbClr val="55DC8B"/>
          </a:solidFill>
          <a:ln w="12700">
            <a:solidFill>
              <a:srgbClr val="55DC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90104" y="1929384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653528" y="2542032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5DC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653528" y="3090672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/ platform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509760" y="2880360"/>
            <a:ext cx="283464" cy="0"/>
          </a:xfrm>
          <a:prstGeom prst="line">
            <a:avLst/>
          </a:prstGeom>
          <a:noFill/>
          <a:ln w="25400">
            <a:solidFill>
              <a:srgbClr val="263A55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838944" y="1719072"/>
            <a:ext cx="1993392" cy="2359152"/>
          </a:xfrm>
          <a:prstGeom prst="roundRect">
            <a:avLst>
              <a:gd name="adj" fmla="val 5505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94392" y="1920240"/>
            <a:ext cx="411480" cy="310896"/>
          </a:xfrm>
          <a:prstGeom prst="roundRect">
            <a:avLst>
              <a:gd name="adj" fmla="val 52941"/>
            </a:avLst>
          </a:prstGeom>
          <a:solidFill>
            <a:srgbClr val="6B9DFF"/>
          </a:solidFill>
          <a:ln w="12700">
            <a:solidFill>
              <a:srgbClr val="6B9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30968" y="1929384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994392" y="2542032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9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994392" y="3090672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Reset + revoke + escalate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1234440" y="4590288"/>
            <a:ext cx="9738360" cy="932688"/>
          </a:xfrm>
          <a:prstGeom prst="roundRect">
            <a:avLst>
              <a:gd name="adj" fmla="val 11765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34440" y="4590288"/>
            <a:ext cx="64008" cy="932688"/>
          </a:xfrm>
          <a:prstGeom prst="rect">
            <a:avLst/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44752" y="471830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MANTRA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444752" y="5093208"/>
            <a:ext cx="9390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Pause is not slow. Pause is the control that creates room for verification.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642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• INCIDENT RESPONSE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Already clicked? Act fast, not perfectly.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recovery can reduce the time an attacker has to abuse a session or account.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353312"/>
            <a:ext cx="393192" cy="310896"/>
          </a:xfrm>
          <a:prstGeom prst="roundRect">
            <a:avLst>
              <a:gd name="adj" fmla="val 52941"/>
            </a:avLst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36245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80160" y="13258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THE INTERACTION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703320" y="1344168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the page / end the call / stop replying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85800" y="2286000"/>
            <a:ext cx="393192" cy="310896"/>
          </a:xfrm>
          <a:prstGeom prst="roundRect">
            <a:avLst>
              <a:gd name="adj" fmla="val 52941"/>
            </a:avLst>
          </a:prstGeom>
          <a:solidFill>
            <a:srgbClr val="FFC34D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" y="229514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80160" y="22585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C3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/ RESET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03320" y="2276856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trusted device and known-good login route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85800" y="3218688"/>
            <a:ext cx="393192" cy="310896"/>
          </a:xfrm>
          <a:prstGeom prst="roundRect">
            <a:avLst>
              <a:gd name="adj" fmla="val 52941"/>
            </a:avLst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" y="32278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280160" y="31912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ACCESS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03320" y="3209544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Revoke sessions; inspect unfamiliar MFA methods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685800" y="4151376"/>
            <a:ext cx="393192" cy="310896"/>
          </a:xfrm>
          <a:prstGeom prst="roundRect">
            <a:avLst>
              <a:gd name="adj" fmla="val 52941"/>
            </a:avLst>
          </a:prstGeom>
          <a:solidFill>
            <a:srgbClr val="55DC8B"/>
          </a:solidFill>
          <a:ln w="12700">
            <a:solidFill>
              <a:srgbClr val="55DC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" y="4160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280160" y="412394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5DC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703320" y="4142232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Tell security, IT, bank, or platform promptly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685800" y="5084064"/>
            <a:ext cx="393192" cy="310896"/>
          </a:xfrm>
          <a:prstGeom prst="roundRect">
            <a:avLst>
              <a:gd name="adj" fmla="val 52941"/>
            </a:avLst>
          </a:prstGeom>
          <a:solidFill>
            <a:srgbClr val="6B9DFF"/>
          </a:solidFill>
          <a:ln w="12700">
            <a:solidFill>
              <a:srgbClr val="6B9D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" y="50932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280160" y="50566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9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HUNT FOLLOW-UPS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703320" y="5074920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 possible second-stage impersonation attempts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594360" y="594360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attempt investigation by interacting further with the suspicious sender or site. Escalate through trusted channels.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642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• DEFENSE-IN-DEPTH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layers make social engineering harder to monetize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+ process + identity + technology + response.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" y="1325880"/>
            <a:ext cx="10195560" cy="621792"/>
          </a:xfrm>
          <a:prstGeom prst="roundRect">
            <a:avLst>
              <a:gd name="adj" fmla="val 11765"/>
            </a:avLst>
          </a:prstGeom>
          <a:solidFill>
            <a:srgbClr val="15233A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453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46120" y="145389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Awareness • habits • reporting</a:t>
            </a:r>
            <a:endParaRPr lang="en-US" sz="1270" dirty="0"/>
          </a:p>
        </p:txBody>
      </p:sp>
      <p:sp>
        <p:nvSpPr>
          <p:cNvPr id="8" name="Shape 6"/>
          <p:cNvSpPr/>
          <p:nvPr/>
        </p:nvSpPr>
        <p:spPr>
          <a:xfrm>
            <a:off x="960120" y="2167128"/>
            <a:ext cx="10195560" cy="621792"/>
          </a:xfrm>
          <a:prstGeom prst="roundRect">
            <a:avLst>
              <a:gd name="adj" fmla="val 11765"/>
            </a:avLst>
          </a:prstGeom>
          <a:solidFill>
            <a:srgbClr val="0F1828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2951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C3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46120" y="229514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Callbacks • dual approval • change control</a:t>
            </a:r>
            <a:endParaRPr lang="en-US" sz="1270" dirty="0"/>
          </a:p>
        </p:txBody>
      </p:sp>
      <p:sp>
        <p:nvSpPr>
          <p:cNvPr id="11" name="Shape 9"/>
          <p:cNvSpPr/>
          <p:nvPr/>
        </p:nvSpPr>
        <p:spPr>
          <a:xfrm>
            <a:off x="960120" y="3008376"/>
            <a:ext cx="10195560" cy="621792"/>
          </a:xfrm>
          <a:prstGeom prst="roundRect">
            <a:avLst>
              <a:gd name="adj" fmla="val 11765"/>
            </a:avLst>
          </a:prstGeom>
          <a:solidFill>
            <a:srgbClr val="15233A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1363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5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46120" y="313639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MFA • phishing-resistant MFA • least privilege</a:t>
            </a:r>
            <a:endParaRPr lang="en-US" sz="1270" dirty="0"/>
          </a:p>
        </p:txBody>
      </p:sp>
      <p:sp>
        <p:nvSpPr>
          <p:cNvPr id="14" name="Shape 12"/>
          <p:cNvSpPr/>
          <p:nvPr/>
        </p:nvSpPr>
        <p:spPr>
          <a:xfrm>
            <a:off x="960120" y="3849624"/>
            <a:ext cx="10195560" cy="621792"/>
          </a:xfrm>
          <a:prstGeom prst="roundRect">
            <a:avLst>
              <a:gd name="adj" fmla="val 11765"/>
            </a:avLst>
          </a:prstGeom>
          <a:solidFill>
            <a:srgbClr val="0F1828"/>
          </a:solidFill>
          <a:ln w="12700">
            <a:solidFill>
              <a:srgbClr val="6B9D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977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B9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246120" y="397764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filtering • URL analysis • sandboxing</a:t>
            </a:r>
            <a:endParaRPr lang="en-US" sz="1270" dirty="0"/>
          </a:p>
        </p:txBody>
      </p:sp>
      <p:sp>
        <p:nvSpPr>
          <p:cNvPr id="17" name="Shape 15"/>
          <p:cNvSpPr/>
          <p:nvPr/>
        </p:nvSpPr>
        <p:spPr>
          <a:xfrm>
            <a:off x="960120" y="4690872"/>
            <a:ext cx="10195560" cy="621792"/>
          </a:xfrm>
          <a:prstGeom prst="roundRect">
            <a:avLst>
              <a:gd name="adj" fmla="val 11765"/>
            </a:avLst>
          </a:prstGeom>
          <a:solidFill>
            <a:srgbClr val="15233A"/>
          </a:solidFill>
          <a:ln w="12700">
            <a:solidFill>
              <a:srgbClr val="55DC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8188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5DC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246120" y="481888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 • revocation • incident playbooks</a:t>
            </a:r>
            <a:endParaRPr lang="en-US" sz="1270" dirty="0"/>
          </a:p>
        </p:txBody>
      </p:sp>
      <p:sp>
        <p:nvSpPr>
          <p:cNvPr id="20" name="Text 18"/>
          <p:cNvSpPr/>
          <p:nvPr/>
        </p:nvSpPr>
        <p:spPr>
          <a:xfrm>
            <a:off x="594360" y="594360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CISA guidance highlights phishing-resistant MFA and centralized SSO/identity controls as important protections.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642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• HACKATHON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PHISHGUARD — from “warning” to “safe next action”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differentiator is explainability and guided response.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2029968" cy="3520440"/>
          </a:xfrm>
          <a:prstGeom prst="roundRect">
            <a:avLst>
              <a:gd name="adj" fmla="val 5405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810512"/>
            <a:ext cx="411480" cy="310896"/>
          </a:xfrm>
          <a:prstGeom prst="roundRect">
            <a:avLst>
              <a:gd name="adj" fmla="val 52941"/>
            </a:avLst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819656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22376" y="24323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22376" y="3035808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Sender + URL + language + context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06040" y="3291840"/>
            <a:ext cx="246888" cy="0"/>
          </a:xfrm>
          <a:prstGeom prst="line">
            <a:avLst/>
          </a:prstGeom>
          <a:noFill/>
          <a:ln w="25400">
            <a:solidFill>
              <a:srgbClr val="263A5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98648" y="1600200"/>
            <a:ext cx="2029968" cy="3520440"/>
          </a:xfrm>
          <a:prstGeom prst="roundRect">
            <a:avLst>
              <a:gd name="adj" fmla="val 5405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54096" y="1810512"/>
            <a:ext cx="411480" cy="310896"/>
          </a:xfrm>
          <a:prstGeom prst="roundRect">
            <a:avLst>
              <a:gd name="adj" fmla="val 52941"/>
            </a:avLst>
          </a:prstGeom>
          <a:solidFill>
            <a:srgbClr val="FFC34D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0672" y="1819656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54096" y="24323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C3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54096" y="3035808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why the signal is suspicious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937760" y="3291840"/>
            <a:ext cx="246888" cy="0"/>
          </a:xfrm>
          <a:prstGeom prst="line">
            <a:avLst/>
          </a:prstGeom>
          <a:noFill/>
          <a:ln w="25400">
            <a:solidFill>
              <a:srgbClr val="263A5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230368" y="1600200"/>
            <a:ext cx="2029968" cy="3520440"/>
          </a:xfrm>
          <a:prstGeom prst="roundRect">
            <a:avLst>
              <a:gd name="adj" fmla="val 5405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85816" y="1810512"/>
            <a:ext cx="411480" cy="310896"/>
          </a:xfrm>
          <a:prstGeom prst="roundRect">
            <a:avLst>
              <a:gd name="adj" fmla="val 52941"/>
            </a:avLst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22392" y="1819656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85816" y="24323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85816" y="3035808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a trusted verification path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269480" y="3291840"/>
            <a:ext cx="246888" cy="0"/>
          </a:xfrm>
          <a:prstGeom prst="line">
            <a:avLst/>
          </a:prstGeom>
          <a:noFill/>
          <a:ln w="25400">
            <a:solidFill>
              <a:srgbClr val="263A5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562088" y="1600200"/>
            <a:ext cx="2029968" cy="3520440"/>
          </a:xfrm>
          <a:prstGeom prst="roundRect">
            <a:avLst>
              <a:gd name="adj" fmla="val 5405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17536" y="1810512"/>
            <a:ext cx="411480" cy="310896"/>
          </a:xfrm>
          <a:prstGeom prst="roundRect">
            <a:avLst>
              <a:gd name="adj" fmla="val 52941"/>
            </a:avLst>
          </a:prstGeom>
          <a:solidFill>
            <a:srgbClr val="6B9DFF"/>
          </a:solidFill>
          <a:ln w="12700">
            <a:solidFill>
              <a:srgbClr val="6B9D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54112" y="1819656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717536" y="24323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9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17536" y="3035808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One-click report + evidence bundle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601200" y="3291840"/>
            <a:ext cx="246888" cy="0"/>
          </a:xfrm>
          <a:prstGeom prst="line">
            <a:avLst/>
          </a:prstGeom>
          <a:noFill/>
          <a:ln w="25400">
            <a:solidFill>
              <a:srgbClr val="263A55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893808" y="1600200"/>
            <a:ext cx="2029968" cy="3520440"/>
          </a:xfrm>
          <a:prstGeom prst="roundRect">
            <a:avLst>
              <a:gd name="adj" fmla="val 5405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9256" y="1810512"/>
            <a:ext cx="411480" cy="310896"/>
          </a:xfrm>
          <a:prstGeom prst="roundRect">
            <a:avLst>
              <a:gd name="adj" fmla="val 52941"/>
            </a:avLst>
          </a:prstGeom>
          <a:solidFill>
            <a:srgbClr val="55DC8B"/>
          </a:solidFill>
          <a:ln w="12700">
            <a:solidFill>
              <a:srgbClr val="55DC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85832" y="1819656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049256" y="24323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5DC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049256" y="3035808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password/session response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77240" y="5532120"/>
            <a:ext cx="1325880" cy="310896"/>
          </a:xfrm>
          <a:prstGeom prst="roundRect">
            <a:avLst>
              <a:gd name="adj" fmla="val 52941"/>
            </a:avLst>
          </a:prstGeom>
          <a:solidFill>
            <a:srgbClr val="FFC34D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816" y="5541264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267712" y="5522976"/>
            <a:ext cx="5120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safe behavior the easiest behavior.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642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• TECHNICAL CORE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Explainable risk scoring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multiple weak signals instead of blindly trusting one classifier.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9808" y="1426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Sender reputation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46120" y="1453896"/>
            <a:ext cx="4526280" cy="256032"/>
          </a:xfrm>
          <a:prstGeom prst="roundRect">
            <a:avLst>
              <a:gd name="adj" fmla="val 35714"/>
            </a:avLst>
          </a:prstGeom>
          <a:solidFill>
            <a:srgbClr val="1B2A40"/>
          </a:solidFill>
          <a:ln w="12700">
            <a:solidFill>
              <a:srgbClr val="1B2A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1453896"/>
            <a:ext cx="3394710" cy="256032"/>
          </a:xfrm>
          <a:prstGeom prst="roundRect">
            <a:avLst>
              <a:gd name="adj" fmla="val 35714"/>
            </a:avLst>
          </a:prstGeom>
          <a:solidFill>
            <a:srgbClr val="6B9DFF"/>
          </a:solidFill>
          <a:ln w="12700">
            <a:solidFill>
              <a:srgbClr val="6B9D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82712" y="14264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B9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+15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49808" y="1975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similarity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2002536"/>
            <a:ext cx="4526280" cy="256032"/>
          </a:xfrm>
          <a:prstGeom prst="roundRect">
            <a:avLst>
              <a:gd name="adj" fmla="val 35714"/>
            </a:avLst>
          </a:prstGeom>
          <a:solidFill>
            <a:srgbClr val="1B2A40"/>
          </a:solidFill>
          <a:ln w="12700">
            <a:solidFill>
              <a:srgbClr val="1B2A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2002536"/>
            <a:ext cx="4526280" cy="256032"/>
          </a:xfrm>
          <a:prstGeom prst="roundRect">
            <a:avLst>
              <a:gd name="adj" fmla="val 35714"/>
            </a:avLst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82712" y="19751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5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49808" y="25237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 structure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46120" y="2551176"/>
            <a:ext cx="4526280" cy="256032"/>
          </a:xfrm>
          <a:prstGeom prst="roundRect">
            <a:avLst>
              <a:gd name="adj" fmla="val 35714"/>
            </a:avLst>
          </a:prstGeom>
          <a:solidFill>
            <a:srgbClr val="1B2A40"/>
          </a:solidFill>
          <a:ln w="12700">
            <a:solidFill>
              <a:srgbClr val="1B2A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2551176"/>
            <a:ext cx="3394710" cy="256032"/>
          </a:xfrm>
          <a:prstGeom prst="roundRect">
            <a:avLst>
              <a:gd name="adj" fmla="val 35714"/>
            </a:avLst>
          </a:prstGeom>
          <a:solidFill>
            <a:srgbClr val="FFC34D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82712" y="25237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C3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+15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49808" y="30723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Urgency language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46120" y="3099816"/>
            <a:ext cx="4526280" cy="256032"/>
          </a:xfrm>
          <a:prstGeom prst="roundRect">
            <a:avLst>
              <a:gd name="adj" fmla="val 35714"/>
            </a:avLst>
          </a:prstGeom>
          <a:solidFill>
            <a:srgbClr val="1B2A40"/>
          </a:solidFill>
          <a:ln w="12700">
            <a:solidFill>
              <a:srgbClr val="1B2A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3099816"/>
            <a:ext cx="2263140" cy="256032"/>
          </a:xfrm>
          <a:prstGeom prst="roundRect">
            <a:avLst>
              <a:gd name="adj" fmla="val 35714"/>
            </a:avLst>
          </a:prstGeom>
          <a:solidFill>
            <a:srgbClr val="FFC34D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82712" y="30723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C3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49808" y="36210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 request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46120" y="3648456"/>
            <a:ext cx="4526280" cy="256032"/>
          </a:xfrm>
          <a:prstGeom prst="roundRect">
            <a:avLst>
              <a:gd name="adj" fmla="val 35714"/>
            </a:avLst>
          </a:prstGeom>
          <a:solidFill>
            <a:srgbClr val="1B2A40"/>
          </a:solidFill>
          <a:ln w="12700">
            <a:solidFill>
              <a:srgbClr val="1B2A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3648456"/>
            <a:ext cx="4526280" cy="256032"/>
          </a:xfrm>
          <a:prstGeom prst="roundRect">
            <a:avLst>
              <a:gd name="adj" fmla="val 35714"/>
            </a:avLst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82712" y="36210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5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+20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49808" y="4169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mismatch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46120" y="4197096"/>
            <a:ext cx="4526280" cy="256032"/>
          </a:xfrm>
          <a:prstGeom prst="roundRect">
            <a:avLst>
              <a:gd name="adj" fmla="val 35714"/>
            </a:avLst>
          </a:prstGeom>
          <a:solidFill>
            <a:srgbClr val="1B2A40"/>
          </a:solidFill>
          <a:ln w="12700">
            <a:solidFill>
              <a:srgbClr val="1B2A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4197096"/>
            <a:ext cx="2263140" cy="256032"/>
          </a:xfrm>
          <a:prstGeom prst="roundRect">
            <a:avLst>
              <a:gd name="adj" fmla="val 35714"/>
            </a:avLst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82712" y="4169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49808" y="4718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report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46120" y="4745736"/>
            <a:ext cx="4526280" cy="256032"/>
          </a:xfrm>
          <a:prstGeom prst="roundRect">
            <a:avLst>
              <a:gd name="adj" fmla="val 35714"/>
            </a:avLst>
          </a:prstGeom>
          <a:solidFill>
            <a:srgbClr val="1B2A40"/>
          </a:solidFill>
          <a:ln w="12700">
            <a:solidFill>
              <a:srgbClr val="1B2A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46120" y="4745736"/>
            <a:ext cx="2263140" cy="256032"/>
          </a:xfrm>
          <a:prstGeom prst="roundRect">
            <a:avLst>
              <a:gd name="adj" fmla="val 35714"/>
            </a:avLst>
          </a:prstGeom>
          <a:solidFill>
            <a:srgbClr val="55DC8B"/>
          </a:solidFill>
          <a:ln w="12700">
            <a:solidFill>
              <a:srgbClr val="55DC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82712" y="47183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5DC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869680" y="1572768"/>
            <a:ext cx="2331720" cy="2606040"/>
          </a:xfrm>
          <a:prstGeom prst="roundRect">
            <a:avLst>
              <a:gd name="adj" fmla="val 4706"/>
            </a:avLst>
          </a:prstGeom>
          <a:solidFill>
            <a:srgbClr val="15233A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98280" y="18470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098280" y="2286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5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3100" dirty="0"/>
          </a:p>
        </p:txBody>
      </p:sp>
      <p:sp>
        <p:nvSpPr>
          <p:cNvPr id="36" name="Text 34"/>
          <p:cNvSpPr/>
          <p:nvPr/>
        </p:nvSpPr>
        <p:spPr>
          <a:xfrm>
            <a:off x="9098280" y="29718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score exists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869680" y="4462272"/>
            <a:ext cx="2331720" cy="1060704"/>
          </a:xfrm>
          <a:prstGeom prst="roundRect">
            <a:avLst>
              <a:gd name="adj" fmla="val 10345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69680" y="4462272"/>
            <a:ext cx="64008" cy="1060704"/>
          </a:xfrm>
          <a:prstGeom prst="rect">
            <a:avLst/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79992" y="45902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9079992" y="4965192"/>
            <a:ext cx="19842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Reasons + next safe action</a:t>
            </a:r>
            <a:endParaRPr lang="en-US" sz="1120" dirty="0"/>
          </a:p>
        </p:txBody>
      </p:sp>
      <p:sp>
        <p:nvSpPr>
          <p:cNvPr id="41" name="Text 39"/>
          <p:cNvSpPr/>
          <p:nvPr/>
        </p:nvSpPr>
        <p:spPr>
          <a:xfrm>
            <a:off x="594360" y="594360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concept: weights are illustrative. A production system should be calibrated on validated data and continuously tested for false positives.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642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•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PHISHGUARD 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Layered analysis with a secure escalation path.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" y="155448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0F1828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673352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94944" y="2039112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• URL • SMS • QR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2743200" y="155448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0F1828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167335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C3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816352" y="203911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 sender / URL / content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5010912" y="155448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0F1828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84064" y="1673352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5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84064" y="2039112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+ ML/LLM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7223760" y="155448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0F1828"/>
          </a:solidFill>
          <a:ln w="12700">
            <a:solidFill>
              <a:srgbClr val="6B9D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96912" y="1673352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9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296912" y="2039112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+ evidence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9418320" y="155448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0F1828"/>
          </a:solidFill>
          <a:ln w="12700">
            <a:solidFill>
              <a:srgbClr val="55DC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91472" y="1673352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5DC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ACTION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491472" y="2039112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 / verify / report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3520440" y="3337560"/>
            <a:ext cx="2423160" cy="914400"/>
          </a:xfrm>
          <a:prstGeom prst="roundRect">
            <a:avLst>
              <a:gd name="adj" fmla="val 12000"/>
            </a:avLst>
          </a:prstGeom>
          <a:solidFill>
            <a:srgbClr val="0F1828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93592" y="3456432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 INTEL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593592" y="3822192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/ reputation signals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6537960" y="3337560"/>
            <a:ext cx="2423160" cy="914400"/>
          </a:xfrm>
          <a:prstGeom prst="roundRect">
            <a:avLst>
              <a:gd name="adj" fmla="val 12000"/>
            </a:avLst>
          </a:prstGeom>
          <a:solidFill>
            <a:srgbClr val="0F1828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11112" y="3456432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5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611112" y="3822192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Quarantine / revoke / escalate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2505456" y="2011680"/>
            <a:ext cx="237744" cy="0"/>
          </a:xfrm>
          <a:prstGeom prst="line">
            <a:avLst/>
          </a:prstGeom>
          <a:noFill/>
          <a:ln w="25400">
            <a:solidFill>
              <a:srgbClr val="263A55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754880" y="2011680"/>
            <a:ext cx="256032" cy="0"/>
          </a:xfrm>
          <a:prstGeom prst="line">
            <a:avLst/>
          </a:prstGeom>
          <a:noFill/>
          <a:ln w="25400">
            <a:solidFill>
              <a:srgbClr val="263A5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976872" y="2011680"/>
            <a:ext cx="246888" cy="0"/>
          </a:xfrm>
          <a:prstGeom prst="line">
            <a:avLst/>
          </a:prstGeom>
          <a:noFill/>
          <a:ln w="25400">
            <a:solidFill>
              <a:srgbClr val="263A55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189720" y="2011680"/>
            <a:ext cx="228600" cy="0"/>
          </a:xfrm>
          <a:prstGeom prst="line">
            <a:avLst/>
          </a:prstGeom>
          <a:noFill/>
          <a:ln w="25400">
            <a:solidFill>
              <a:srgbClr val="263A55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526280" y="3337560"/>
            <a:ext cx="1463040" cy="-868680"/>
          </a:xfrm>
          <a:prstGeom prst="line">
            <a:avLst/>
          </a:prstGeom>
          <a:noFill/>
          <a:ln w="20320">
            <a:solidFill>
              <a:srgbClr val="25D6C4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744968" y="3337560"/>
            <a:ext cx="438912" cy="-868680"/>
          </a:xfrm>
          <a:prstGeom prst="line">
            <a:avLst/>
          </a:prstGeom>
          <a:noFill/>
          <a:ln w="20320">
            <a:solidFill>
              <a:srgbClr val="FF5B67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77240" y="4645152"/>
            <a:ext cx="10652760" cy="932688"/>
          </a:xfrm>
          <a:prstGeom prst="roundRect">
            <a:avLst>
              <a:gd name="adj" fmla="val 11765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" y="4645152"/>
            <a:ext cx="64008" cy="932688"/>
          </a:xfrm>
          <a:prstGeom prst="rect">
            <a:avLst/>
          </a:prstGeom>
          <a:solidFill>
            <a:srgbClr val="FFC34D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7552" y="47731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BY DESIGN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87552" y="5148072"/>
            <a:ext cx="10305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Minimize collected data • encrypt sensitive content • role-based access • audit decisions • retain only what is needed.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642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• PRODUCT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Judge-facing dashboard mockup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user should understand the warning in seconds.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1064240" cy="4480560"/>
          </a:xfrm>
          <a:prstGeom prst="roundRect">
            <a:avLst>
              <a:gd name="adj" fmla="val 2449"/>
            </a:avLst>
          </a:prstGeom>
          <a:solidFill>
            <a:srgbClr val="0C1422"/>
          </a:solidFill>
          <a:ln w="12700">
            <a:solidFill>
              <a:srgbClr val="3048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71600"/>
            <a:ext cx="11064240" cy="530352"/>
          </a:xfrm>
          <a:prstGeom prst="roundRect">
            <a:avLst>
              <a:gd name="adj" fmla="val 20690"/>
            </a:avLst>
          </a:prstGeom>
          <a:solidFill>
            <a:srgbClr val="111F33"/>
          </a:solidFill>
          <a:ln w="12700">
            <a:solidFill>
              <a:srgbClr val="111F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9961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PHISHGUARD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784080" y="1481328"/>
            <a:ext cx="1143000" cy="310896"/>
          </a:xfrm>
          <a:prstGeom prst="roundRect">
            <a:avLst>
              <a:gd name="adj" fmla="val 52941"/>
            </a:avLst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20656" y="1490472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RISK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86384" y="2139696"/>
            <a:ext cx="4983480" cy="3200400"/>
          </a:xfrm>
          <a:prstGeom prst="roundRect">
            <a:avLst>
              <a:gd name="adj" fmla="val 3429"/>
            </a:avLst>
          </a:prstGeom>
          <a:solidFill>
            <a:srgbClr val="F5F7FA"/>
          </a:solidFill>
          <a:ln w="12700">
            <a:solidFill>
              <a:srgbClr val="B0BA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35915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7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Subject: URGENT — Verify your account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74320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E4A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From: payroll@micr0soft-support.example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3163824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E4A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account needs verification.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E4A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your password and OTP today.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2139696"/>
            <a:ext cx="5074920" cy="3200400"/>
          </a:xfrm>
          <a:prstGeom prst="roundRect">
            <a:avLst>
              <a:gd name="adj" fmla="val 3429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235915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WAS FLAGGED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36792" y="2834640"/>
            <a:ext cx="246888" cy="310896"/>
          </a:xfrm>
          <a:prstGeom prst="roundRect">
            <a:avLst>
              <a:gd name="adj" fmla="val 66667"/>
            </a:avLst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2843784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711696" y="2816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Look-alike domain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36792" y="3319272"/>
            <a:ext cx="246888" cy="310896"/>
          </a:xfrm>
          <a:prstGeom prst="roundRect">
            <a:avLst>
              <a:gd name="adj" fmla="val 66667"/>
            </a:avLst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3368" y="3328416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711696" y="33009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 + OTP request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36792" y="3803904"/>
            <a:ext cx="246888" cy="310896"/>
          </a:xfrm>
          <a:prstGeom prst="roundRect">
            <a:avLst>
              <a:gd name="adj" fmla="val 66667"/>
            </a:avLst>
          </a:prstGeom>
          <a:solidFill>
            <a:srgbClr val="FFC34D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73368" y="3813048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11696" y="37856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Urgency / suspension threat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36792" y="4288536"/>
            <a:ext cx="246888" cy="310896"/>
          </a:xfrm>
          <a:prstGeom prst="roundRect">
            <a:avLst>
              <a:gd name="adj" fmla="val 66667"/>
            </a:avLst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3368" y="4297680"/>
            <a:ext cx="173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711696" y="4270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Unexpected verification workflow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55080" y="4919472"/>
            <a:ext cx="1389888" cy="310896"/>
          </a:xfrm>
          <a:prstGeom prst="roundRect">
            <a:avLst>
              <a:gd name="adj" fmla="val 52941"/>
            </a:avLst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91656" y="4928616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SAFELY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909560" y="4919472"/>
            <a:ext cx="868680" cy="310896"/>
          </a:xfrm>
          <a:prstGeom prst="roundRect">
            <a:avLst>
              <a:gd name="adj" fmla="val 52941"/>
            </a:avLst>
          </a:prstGeom>
          <a:solidFill>
            <a:srgbClr val="FFC34D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46136" y="4928616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988552" y="4919472"/>
            <a:ext cx="1005840" cy="310896"/>
          </a:xfrm>
          <a:prstGeom prst="roundRect">
            <a:avLst>
              <a:gd name="adj" fmla="val 52941"/>
            </a:avLst>
          </a:prstGeom>
          <a:solidFill>
            <a:srgbClr val="6B9DFF"/>
          </a:solidFill>
          <a:ln w="12700">
            <a:solidFill>
              <a:srgbClr val="6B9D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25128" y="492861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94360" y="594360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UI: the product explains the evidence, then offers a safe path instead of simply blocking the user.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642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• LIVE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90-second judge demo storyline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demo deterministic, visual, and safety-focused.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475488" cy="310896"/>
          </a:xfrm>
          <a:prstGeom prst="roundRect">
            <a:avLst>
              <a:gd name="adj" fmla="val 52941"/>
            </a:avLst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517904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633472"/>
            <a:ext cx="16642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pastes the simulated message.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2331720" y="2267712"/>
            <a:ext cx="466344" cy="0"/>
          </a:xfrm>
          <a:prstGeom prst="line">
            <a:avLst/>
          </a:prstGeom>
          <a:noFill/>
          <a:ln w="25400">
            <a:solidFill>
              <a:srgbClr val="263A5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98648" y="1508760"/>
            <a:ext cx="475488" cy="310896"/>
          </a:xfrm>
          <a:prstGeom prst="roundRect">
            <a:avLst>
              <a:gd name="adj" fmla="val 52941"/>
            </a:avLst>
          </a:prstGeom>
          <a:solidFill>
            <a:srgbClr val="FFC34D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35224" y="1517904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898648" y="21488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C3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98648" y="2633472"/>
            <a:ext cx="16642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extracts indicators.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4636008" y="2267712"/>
            <a:ext cx="466344" cy="0"/>
          </a:xfrm>
          <a:prstGeom prst="line">
            <a:avLst/>
          </a:prstGeom>
          <a:noFill/>
          <a:ln w="25400">
            <a:solidFill>
              <a:srgbClr val="263A5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02936" y="1508760"/>
            <a:ext cx="475488" cy="310896"/>
          </a:xfrm>
          <a:prstGeom prst="roundRect">
            <a:avLst>
              <a:gd name="adj" fmla="val 52941"/>
            </a:avLst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9512" y="1517904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202936" y="21488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5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02936" y="2633472"/>
            <a:ext cx="16642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+ evidence appears.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6940296" y="2267712"/>
            <a:ext cx="466344" cy="0"/>
          </a:xfrm>
          <a:prstGeom prst="line">
            <a:avLst/>
          </a:prstGeom>
          <a:noFill/>
          <a:ln w="25400">
            <a:solidFill>
              <a:srgbClr val="263A5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507224" y="1508760"/>
            <a:ext cx="475488" cy="310896"/>
          </a:xfrm>
          <a:prstGeom prst="roundRect">
            <a:avLst>
              <a:gd name="adj" fmla="val 52941"/>
            </a:avLst>
          </a:prstGeom>
          <a:solidFill>
            <a:srgbClr val="6B9DFF"/>
          </a:solidFill>
          <a:ln w="12700">
            <a:solidFill>
              <a:srgbClr val="6B9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1517904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507224" y="21488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9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07224" y="2633472"/>
            <a:ext cx="16642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verifies / reports safely.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9244584" y="2267712"/>
            <a:ext cx="466344" cy="0"/>
          </a:xfrm>
          <a:prstGeom prst="line">
            <a:avLst/>
          </a:prstGeom>
          <a:noFill/>
          <a:ln w="25400">
            <a:solidFill>
              <a:srgbClr val="263A55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811512" y="1508760"/>
            <a:ext cx="475488" cy="310896"/>
          </a:xfrm>
          <a:prstGeom prst="roundRect">
            <a:avLst>
              <a:gd name="adj" fmla="val 52941"/>
            </a:avLst>
          </a:prstGeom>
          <a:solidFill>
            <a:srgbClr val="55DC8B"/>
          </a:solidFill>
          <a:ln w="12700">
            <a:solidFill>
              <a:srgbClr val="55DC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48088" y="1517904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811512" y="21488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5DC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11512" y="2633472"/>
            <a:ext cx="16642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recovery flow if credentials were entered.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731520" y="4160520"/>
            <a:ext cx="3429000" cy="1097280"/>
          </a:xfrm>
          <a:prstGeom prst="roundRect">
            <a:avLst>
              <a:gd name="adj" fmla="val 10000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4160520"/>
            <a:ext cx="64008" cy="1097280"/>
          </a:xfrm>
          <a:prstGeom prst="rect">
            <a:avLst/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428853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 QUESTION #1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41832" y="4663440"/>
            <a:ext cx="30815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“Why is this suspicious?”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89120" y="4160520"/>
            <a:ext cx="3429000" cy="1097280"/>
          </a:xfrm>
          <a:prstGeom prst="roundRect">
            <a:avLst>
              <a:gd name="adj" fmla="val 10000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89120" y="4160520"/>
            <a:ext cx="64008" cy="1097280"/>
          </a:xfrm>
          <a:prstGeom prst="rect">
            <a:avLst/>
          </a:prstGeom>
          <a:solidFill>
            <a:srgbClr val="FFC34D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99432" y="428853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 QUESTION #2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599432" y="4663440"/>
            <a:ext cx="30815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“What should the user do now?”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46720" y="4160520"/>
            <a:ext cx="3429000" cy="1097280"/>
          </a:xfrm>
          <a:prstGeom prst="roundRect">
            <a:avLst>
              <a:gd name="adj" fmla="val 10000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46720" y="4160520"/>
            <a:ext cx="64008" cy="1097280"/>
          </a:xfrm>
          <a:prstGeom prst="rect">
            <a:avLst/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57032" y="428853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 QUESTION #3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257032" y="4663440"/>
            <a:ext cx="30815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“What happens after an incident?”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642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 • SUCCESS METRICS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hackathon project proves value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security outcomes and human behavior together.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444752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44752"/>
            <a:ext cx="64008" cy="1737360"/>
          </a:xfrm>
          <a:prstGeom prst="rect">
            <a:avLst/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5727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0392" y="1947672"/>
            <a:ext cx="308152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 • recall • false positives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25696" y="1444752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25696" y="1444752"/>
            <a:ext cx="64008" cy="1737360"/>
          </a:xfrm>
          <a:prstGeom prst="rect">
            <a:avLst/>
          </a:prstGeom>
          <a:solidFill>
            <a:srgbClr val="FFC34D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5727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36008" y="1947672"/>
            <a:ext cx="308152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Risky click / submit reduction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11312" y="1444752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11312" y="1444752"/>
            <a:ext cx="64008" cy="1737360"/>
          </a:xfrm>
          <a:prstGeom prst="rect">
            <a:avLst/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21624" y="15727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21624" y="1947672"/>
            <a:ext cx="308152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→ triage time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502152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502152"/>
            <a:ext cx="64008" cy="1737360"/>
          </a:xfrm>
          <a:prstGeom prst="rect">
            <a:avLst/>
          </a:prstGeom>
          <a:solidFill>
            <a:srgbClr val="6B9DFF"/>
          </a:solidFill>
          <a:ln w="12700">
            <a:solidFill>
              <a:srgbClr val="6B9D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36301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0392" y="4005072"/>
            <a:ext cx="308152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can identify why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425696" y="3502152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25696" y="3502152"/>
            <a:ext cx="64008" cy="1737360"/>
          </a:xfrm>
          <a:prstGeom prst="rect">
            <a:avLst/>
          </a:prstGeom>
          <a:solidFill>
            <a:srgbClr val="55DC8B"/>
          </a:solidFill>
          <a:ln w="12700">
            <a:solidFill>
              <a:srgbClr val="55DC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36008" y="36301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Resilience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36008" y="4005072"/>
            <a:ext cx="308152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Unseen phishing performance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11312" y="3502152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11312" y="3502152"/>
            <a:ext cx="64008" cy="1737360"/>
          </a:xfrm>
          <a:prstGeom prst="rect">
            <a:avLst/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21624" y="36301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21624" y="4005072"/>
            <a:ext cx="308152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 collection + auditability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594360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recommends considering phishing difficulty and the human element when interpreting awareness-training outcomes.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642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 •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hackathon prototype to deployable defense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measurable security gains before feature sprawl.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49808" y="1380744"/>
            <a:ext cx="411480" cy="310896"/>
          </a:xfrm>
          <a:prstGeom prst="roundRect">
            <a:avLst>
              <a:gd name="adj" fmla="val 52941"/>
            </a:avLst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9888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417320" y="13533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0" y="135331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analyzer • explainable warning • reporting workflow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941832" y="1783080"/>
            <a:ext cx="0" cy="502920"/>
          </a:xfrm>
          <a:prstGeom prst="line">
            <a:avLst/>
          </a:prstGeom>
          <a:noFill/>
          <a:ln w="19050">
            <a:solidFill>
              <a:srgbClr val="263A5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49808" y="2459736"/>
            <a:ext cx="411480" cy="310896"/>
          </a:xfrm>
          <a:prstGeom prst="roundRect">
            <a:avLst>
              <a:gd name="adj" fmla="val 52941"/>
            </a:avLst>
          </a:prstGeom>
          <a:solidFill>
            <a:srgbClr val="FFC34D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46888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17320" y="2432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C3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43200" y="2432304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Browser/mail integrations • domain intelligence • admin console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941832" y="2862072"/>
            <a:ext cx="0" cy="502920"/>
          </a:xfrm>
          <a:prstGeom prst="line">
            <a:avLst/>
          </a:prstGeom>
          <a:noFill/>
          <a:ln w="19050">
            <a:solidFill>
              <a:srgbClr val="263A5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9808" y="3538728"/>
            <a:ext cx="411480" cy="310896"/>
          </a:xfrm>
          <a:prstGeom prst="roundRect">
            <a:avLst>
              <a:gd name="adj" fmla="val 52941"/>
            </a:avLst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547872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417320" y="351129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5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43200" y="3511296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Organization-specific policies • adaptive detection • automated response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941832" y="3941064"/>
            <a:ext cx="0" cy="502920"/>
          </a:xfrm>
          <a:prstGeom prst="line">
            <a:avLst/>
          </a:prstGeom>
          <a:noFill/>
          <a:ln w="19050">
            <a:solidFill>
              <a:srgbClr val="263A5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9808" y="4617720"/>
            <a:ext cx="411480" cy="310896"/>
          </a:xfrm>
          <a:prstGeom prst="roundRect">
            <a:avLst>
              <a:gd name="adj" fmla="val 52941"/>
            </a:avLst>
          </a:prstGeom>
          <a:solidFill>
            <a:srgbClr val="55DC8B"/>
          </a:solidFill>
          <a:ln w="12700">
            <a:solidFill>
              <a:srgbClr val="55DC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4626864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417320" y="45902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5DC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743200" y="45902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evaluation • red-team testing • governance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642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 • LIMITATIONS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PHISHGUARD should not pretend to solve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Credible security products are explicit about uncertainty.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3456432" cy="1828800"/>
          </a:xfrm>
          <a:prstGeom prst="roundRect">
            <a:avLst>
              <a:gd name="adj" fmla="val 6000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64008" cy="1828800"/>
          </a:xfrm>
          <a:prstGeom prst="rect">
            <a:avLst/>
          </a:prstGeom>
          <a:solidFill>
            <a:srgbClr val="FFC34D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45336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POSITIVES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3108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legitimate message can look suspicious. Give users evidence and a verification path.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70832" y="1417320"/>
            <a:ext cx="3456432" cy="1828800"/>
          </a:xfrm>
          <a:prstGeom prst="roundRect">
            <a:avLst>
              <a:gd name="adj" fmla="val 6000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1417320"/>
            <a:ext cx="64008" cy="1828800"/>
          </a:xfrm>
          <a:prstGeom prst="rect">
            <a:avLst/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1545336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NEGATIVES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81144" y="1920240"/>
            <a:ext cx="3108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Attackers adapt. Monitor new patterns and continuously evaluate on fresh examples.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83296" y="1417320"/>
            <a:ext cx="3456432" cy="1828800"/>
          </a:xfrm>
          <a:prstGeom prst="roundRect">
            <a:avLst>
              <a:gd name="adj" fmla="val 6000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83296" y="1417320"/>
            <a:ext cx="64008" cy="1828800"/>
          </a:xfrm>
          <a:prstGeom prst="rect">
            <a:avLst/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545336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PRIVACY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93608" y="1920240"/>
            <a:ext cx="3108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Analyzing messages can expose sensitive data. Minimize, protect, and limit access.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3493008"/>
            <a:ext cx="3456432" cy="1828800"/>
          </a:xfrm>
          <a:prstGeom prst="roundRect">
            <a:avLst>
              <a:gd name="adj" fmla="val 6000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493008"/>
            <a:ext cx="64008" cy="1828800"/>
          </a:xfrm>
          <a:prstGeom prst="rect">
            <a:avLst/>
          </a:prstGeom>
          <a:solidFill>
            <a:srgbClr val="6B9DFF"/>
          </a:solidFill>
          <a:ln w="12700">
            <a:solidFill>
              <a:srgbClr val="6B9D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621024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RISK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3995928"/>
            <a:ext cx="3108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ML/LLM output is evidence, not unquestionable truth. Keep human review for high-impact actions.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70832" y="3493008"/>
            <a:ext cx="3456432" cy="1828800"/>
          </a:xfrm>
          <a:prstGeom prst="roundRect">
            <a:avLst>
              <a:gd name="adj" fmla="val 6000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3493008"/>
            <a:ext cx="64008" cy="1828800"/>
          </a:xfrm>
          <a:prstGeom prst="rect">
            <a:avLst/>
          </a:prstGeom>
          <a:solidFill>
            <a:srgbClr val="55DC8B"/>
          </a:solidFill>
          <a:ln w="12700">
            <a:solidFill>
              <a:srgbClr val="55DC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81144" y="3621024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TRUST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81144" y="3995928"/>
            <a:ext cx="3108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cannot replace identity verification and business process controls.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83296" y="3493008"/>
            <a:ext cx="3456432" cy="1828800"/>
          </a:xfrm>
          <a:prstGeom prst="roundRect">
            <a:avLst>
              <a:gd name="adj" fmla="val 6000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83296" y="3493008"/>
            <a:ext cx="64008" cy="1828800"/>
          </a:xfrm>
          <a:prstGeom prst="rect">
            <a:avLst/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93608" y="3621024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TESTING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93608" y="3995928"/>
            <a:ext cx="3108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simulated data and controlled environments for demos. Never test against people or systems without authorization.</a:t>
            </a:r>
            <a:endParaRPr lang="en-US" sz="12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642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• TAKEAWAYS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rules that survive new scam formats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 principles, not just screenshots.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3310128" cy="3520440"/>
          </a:xfrm>
          <a:prstGeom prst="roundRect">
            <a:avLst>
              <a:gd name="adj" fmla="val 3315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64008" cy="3520440"/>
          </a:xfrm>
          <a:prstGeom prst="rect">
            <a:avLst/>
          </a:prstGeom>
          <a:solidFill>
            <a:srgbClr val="FF5B67"/>
          </a:solidFill>
          <a:ln w="12700">
            <a:solidFill>
              <a:srgbClr val="FF5B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545336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PAUSE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87552" y="1920240"/>
            <a:ext cx="296265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Urgency is a signal to slow down.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let pressure become action.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310128" cy="3520440"/>
          </a:xfrm>
          <a:prstGeom prst="roundRect">
            <a:avLst>
              <a:gd name="adj" fmla="val 3315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417320"/>
            <a:ext cx="64008" cy="3520440"/>
          </a:xfrm>
          <a:prstGeom prst="rect">
            <a:avLst/>
          </a:prstGeom>
          <a:solidFill>
            <a:srgbClr val="FFC34D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545336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VERIFY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45152" y="1920240"/>
            <a:ext cx="296265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known-good channel.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message must not be allowed to prove its own authenticity.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3310128" cy="3520440"/>
          </a:xfrm>
          <a:prstGeom prst="roundRect">
            <a:avLst>
              <a:gd name="adj" fmla="val 3315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417320"/>
            <a:ext cx="64008" cy="3520440"/>
          </a:xfrm>
          <a:prstGeom prst="rect">
            <a:avLst/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545336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REPORT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02752" y="1920240"/>
            <a:ext cx="2962656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reporting expands defender options.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mistake is much easier to contain when reported quickly.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2880360" y="5394960"/>
            <a:ext cx="6492240" cy="310896"/>
          </a:xfrm>
          <a:prstGeom prst="roundRect">
            <a:avLst>
              <a:gd name="adj" fmla="val 52941"/>
            </a:avLst>
          </a:prstGeom>
          <a:solidFill>
            <a:srgbClr val="25D6C4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16936" y="5404104"/>
            <a:ext cx="6419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PAUSE  •  VERIFY  •  REPORT  •  RECOVER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642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 • SOURCES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slide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Authoritative sources used to shape the content and security controls.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389888"/>
            <a:ext cx="10744200" cy="749808"/>
          </a:xfrm>
          <a:prstGeom prst="roundRect">
            <a:avLst>
              <a:gd name="adj" fmla="val 14634"/>
            </a:avLst>
          </a:prstGeom>
          <a:solidFill>
            <a:srgbClr val="15233A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5087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48840" y="148132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148840" y="1801368"/>
            <a:ext cx="8092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9B8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https://www.nist.gov/itl/smallbusinesscyber/guidance-topic/phishing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658368" y="2414016"/>
            <a:ext cx="10744200" cy="749808"/>
          </a:xfrm>
          <a:prstGeom prst="roundRect">
            <a:avLst>
              <a:gd name="adj" fmla="val 14634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53288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C3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48840" y="250545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Phish Scale User Guide (TN 2276)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148840" y="2825496"/>
            <a:ext cx="8092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9B8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https://csrc.nist.gov/pubs/tn/2276/final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58368" y="3438144"/>
            <a:ext cx="10744200" cy="749808"/>
          </a:xfrm>
          <a:prstGeom prst="roundRect">
            <a:avLst>
              <a:gd name="adj" fmla="val 14634"/>
            </a:avLst>
          </a:prstGeom>
          <a:solidFill>
            <a:srgbClr val="15233A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55701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5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48840" y="352958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Guidance: Stopping the Attack Cycle at Phase One (2025)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148840" y="3849624"/>
            <a:ext cx="8092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9B8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https://www.cisa.gov/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58368" y="4462272"/>
            <a:ext cx="10744200" cy="749808"/>
          </a:xfrm>
          <a:prstGeom prst="roundRect">
            <a:avLst>
              <a:gd name="adj" fmla="val 14634"/>
            </a:avLst>
          </a:prstGeom>
          <a:solidFill>
            <a:srgbClr val="0F1828"/>
          </a:solidFill>
          <a:ln w="12700">
            <a:solidFill>
              <a:srgbClr val="263A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458114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9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FBI / IC3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48840" y="455371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Email Compromise guidance / examples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148840" y="4873752"/>
            <a:ext cx="8092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9B8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https://www.fbi.gov/how-we-can-help-you/common-frauds-and-scams/business-email-compromise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594360" y="594360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Accessed / verified during deck creation. External guidance may evolve; check the latest version before deployment.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642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749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HUMAN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49808" y="13258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it.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68096" y="251460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turns trust into risk.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PHISHGUARD turns awareness into action.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68096" y="3977640"/>
            <a:ext cx="2011680" cy="310896"/>
          </a:xfrm>
          <a:prstGeom prst="roundRect">
            <a:avLst>
              <a:gd name="adj" fmla="val 52941"/>
            </a:avLst>
          </a:prstGeom>
          <a:solidFill>
            <a:srgbClr val="FFC34D"/>
          </a:solidFill>
          <a:ln w="12700">
            <a:solidFill>
              <a:srgbClr val="FFC3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398678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0C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LEAGUE HACKATHON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68096" y="464515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 • Questions?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641080" y="1243584"/>
            <a:ext cx="2468880" cy="2468880"/>
          </a:xfrm>
          <a:prstGeom prst="roundRect">
            <a:avLst>
              <a:gd name="adj" fmla="val 4444"/>
            </a:avLst>
          </a:prstGeom>
          <a:solidFill>
            <a:srgbClr val="0F1828"/>
          </a:solidFill>
          <a:ln w="12700">
            <a:solidFill>
              <a:srgbClr val="25D6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98280" y="171907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25D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8887968" y="2834640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642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6B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Logic League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&amp; Social Engineering — PHISHGUARD</dc:title>
  <dc:subject>Logic League Hackathon — Cybersecurity: Phishing &amp; Social Engineering</dc:subject>
  <dc:creator>OpenAI</dc:creator>
  <cp:lastModifiedBy>OpenAI</cp:lastModifiedBy>
  <cp:revision>1</cp:revision>
  <dcterms:created xsi:type="dcterms:W3CDTF">2026-09-24T11:56:42Z</dcterms:created>
  <dcterms:modified xsi:type="dcterms:W3CDTF">2026-09-24T11:56:42Z</dcterms:modified>
</cp:coreProperties>
</file>